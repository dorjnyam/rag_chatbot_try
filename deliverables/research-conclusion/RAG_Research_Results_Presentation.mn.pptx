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eaac58831f40a6" /><Relationship Type="http://schemas.openxmlformats.org/officeDocument/2006/relationships/extended-properties" Target="/docProps/app.xml" Id="R5819c57c45564de5" /><Relationship Type="http://schemas.openxmlformats.org/officeDocument/2006/relationships/officeDocument" Target="/ppt/presentation.xml" Id="R7c7f9d50c55643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b74b7c47684fa3"/>
  </p:sldMasterIdLst>
  <p:notesMasterIdLst>
    <p:notesMasterId xmlns:r="http://schemas.openxmlformats.org/officeDocument/2006/relationships" r:id="R9904bee99c0f4a0d"/>
  </p:notesMasterIdLst>
  <p:sldIdLst>
    <p:sldId xmlns:r="http://schemas.openxmlformats.org/officeDocument/2006/relationships" id="256" r:id="Rcb9fd3ca79b84a66"/>
    <p:sldId xmlns:r="http://schemas.openxmlformats.org/officeDocument/2006/relationships" id="257" r:id="Rd11372d7ec254a2b"/>
    <p:sldId xmlns:r="http://schemas.openxmlformats.org/officeDocument/2006/relationships" id="258" r:id="Re5bd95cbb70d4307"/>
    <p:sldId xmlns:r="http://schemas.openxmlformats.org/officeDocument/2006/relationships" id="259" r:id="R6d30abb5c7a24e94"/>
    <p:sldId xmlns:r="http://schemas.openxmlformats.org/officeDocument/2006/relationships" id="260" r:id="R82a6e46ec1ca4f1d"/>
    <p:sldId xmlns:r="http://schemas.openxmlformats.org/officeDocument/2006/relationships" id="261" r:id="R94d3a73dea6844c3"/>
    <p:sldId xmlns:r="http://schemas.openxmlformats.org/officeDocument/2006/relationships" id="262" r:id="R10f8bf6fee8a44e8"/>
    <p:sldId xmlns:r="http://schemas.openxmlformats.org/officeDocument/2006/relationships" id="263" r:id="R26752884738b4beb"/>
    <p:sldId xmlns:r="http://schemas.openxmlformats.org/officeDocument/2006/relationships" id="264" r:id="R19db177b059c43ed"/>
    <p:sldId xmlns:r="http://schemas.openxmlformats.org/officeDocument/2006/relationships" id="265" r:id="R2aeda815a87c4aad"/>
    <p:sldId xmlns:r="http://schemas.openxmlformats.org/officeDocument/2006/relationships" id="266" r:id="R27c47add22744c77"/>
    <p:sldId xmlns:r="http://schemas.openxmlformats.org/officeDocument/2006/relationships" id="267" r:id="R8145dbba64894ba8"/>
    <p:sldId xmlns:r="http://schemas.openxmlformats.org/officeDocument/2006/relationships" id="268" r:id="Ra7c0c0be71904297"/>
    <p:sldId xmlns:r="http://schemas.openxmlformats.org/officeDocument/2006/relationships" id="269" r:id="R1ca7d13aa8fb4b5e"/>
    <p:sldId xmlns:r="http://schemas.openxmlformats.org/officeDocument/2006/relationships" id="270" r:id="Rda5bb6d624874c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bb7a39fb02475d" /><Relationship Type="http://schemas.openxmlformats.org/officeDocument/2006/relationships/slideMaster" Target="/ppt/slideMasters/slideMaster1.xml" Id="R79b74b7c47684fa3" /><Relationship Type="http://schemas.openxmlformats.org/officeDocument/2006/relationships/notesMaster" Target="/ppt/notesMasters/notesMaster1.xml" Id="R9904bee99c0f4a0d" /><Relationship Type="http://schemas.openxmlformats.org/officeDocument/2006/relationships/presProps" Target="/ppt/presProps.xml" Id="R5a903519725949db" /><Relationship Type="http://schemas.openxmlformats.org/officeDocument/2006/relationships/tableStyles" Target="/ppt/tableStyles.xml" Id="R847a46684426459b" /><Relationship Type="http://schemas.openxmlformats.org/officeDocument/2006/relationships/slide" Target="/ppt/slides/slide1.xml" Id="Rcb9fd3ca79b84a66" /><Relationship Type="http://schemas.openxmlformats.org/officeDocument/2006/relationships/slide" Target="/ppt/slides/slide2.xml" Id="Rd11372d7ec254a2b" /><Relationship Type="http://schemas.openxmlformats.org/officeDocument/2006/relationships/slide" Target="/ppt/slides/slide3.xml" Id="Re5bd95cbb70d4307" /><Relationship Type="http://schemas.openxmlformats.org/officeDocument/2006/relationships/slide" Target="/ppt/slides/slide4.xml" Id="R6d30abb5c7a24e94" /><Relationship Type="http://schemas.openxmlformats.org/officeDocument/2006/relationships/slide" Target="/ppt/slides/slide5.xml" Id="R82a6e46ec1ca4f1d" /><Relationship Type="http://schemas.openxmlformats.org/officeDocument/2006/relationships/slide" Target="/ppt/slides/slide6.xml" Id="R94d3a73dea6844c3" /><Relationship Type="http://schemas.openxmlformats.org/officeDocument/2006/relationships/slide" Target="/ppt/slides/slide7.xml" Id="R10f8bf6fee8a44e8" /><Relationship Type="http://schemas.openxmlformats.org/officeDocument/2006/relationships/slide" Target="/ppt/slides/slide8.xml" Id="R26752884738b4beb" /><Relationship Type="http://schemas.openxmlformats.org/officeDocument/2006/relationships/slide" Target="/ppt/slides/slide9.xml" Id="R19db177b059c43ed" /><Relationship Type="http://schemas.openxmlformats.org/officeDocument/2006/relationships/slide" Target="/ppt/slides/slide10.xml" Id="R2aeda815a87c4aad" /><Relationship Type="http://schemas.openxmlformats.org/officeDocument/2006/relationships/slide" Target="/ppt/slides/slide11.xml" Id="R27c47add22744c77" /><Relationship Type="http://schemas.openxmlformats.org/officeDocument/2006/relationships/slide" Target="/ppt/slides/slide12.xml" Id="R8145dbba64894ba8" /><Relationship Type="http://schemas.openxmlformats.org/officeDocument/2006/relationships/slide" Target="/ppt/slides/slide13.xml" Id="Ra7c0c0be71904297" /><Relationship Type="http://schemas.openxmlformats.org/officeDocument/2006/relationships/slide" Target="/ppt/slides/slide14.xml" Id="R1ca7d13aa8fb4b5e" /><Relationship Type="http://schemas.openxmlformats.org/officeDocument/2006/relationships/slide" Target="/ppt/slides/slide15.xml" Id="Rda5bb6d624874c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5a5836742148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ad36d396d34b7c" /><Relationship Type="http://schemas.openxmlformats.org/officeDocument/2006/relationships/notesMaster" Target="/ppt/notesMasters/notesMaster1.xml" Id="R098cef8c1c9b49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8f08b2745b4515" /><Relationship Type="http://schemas.openxmlformats.org/officeDocument/2006/relationships/notesMaster" Target="/ppt/notesMasters/notesMaster1.xml" Id="R83341f6301ae43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b16da8353545cd" /><Relationship Type="http://schemas.openxmlformats.org/officeDocument/2006/relationships/notesMaster" Target="/ppt/notesMasters/notesMaster1.xml" Id="R51881656423145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da84f3095a43ef" /><Relationship Type="http://schemas.openxmlformats.org/officeDocument/2006/relationships/notesMaster" Target="/ppt/notesMasters/notesMaster1.xml" Id="R045e3108144348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e21abe03994360" /><Relationship Type="http://schemas.openxmlformats.org/officeDocument/2006/relationships/notesMaster" Target="/ppt/notesMasters/notesMaster1.xml" Id="R86663e7d647447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1d74dd2bbe4f39" /><Relationship Type="http://schemas.openxmlformats.org/officeDocument/2006/relationships/notesMaster" Target="/ppt/notesMasters/notesMaster1.xml" Id="R1fd59ddb13234c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07d34671ff4dbf" /><Relationship Type="http://schemas.openxmlformats.org/officeDocument/2006/relationships/notesMaster" Target="/ppt/notesMasters/notesMaster1.xml" Id="R49a871b6287b43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07f3677f604690" /><Relationship Type="http://schemas.openxmlformats.org/officeDocument/2006/relationships/notesMaster" Target="/ppt/notesMasters/notesMaster1.xml" Id="R8a9c12cdef7d40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f33c05012247b7" /><Relationship Type="http://schemas.openxmlformats.org/officeDocument/2006/relationships/notesMaster" Target="/ppt/notesMasters/notesMaster1.xml" Id="R1e5d97ec196b4e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16c4919cc0d4dca" /><Relationship Type="http://schemas.openxmlformats.org/officeDocument/2006/relationships/notesMaster" Target="/ppt/notesMasters/notesMaster1.xml" Id="Rfae648a54c134a4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68ce99ffb14160" /><Relationship Type="http://schemas.openxmlformats.org/officeDocument/2006/relationships/notesMaster" Target="/ppt/notesMasters/notesMaster1.xml" Id="Ra15b8aaaf3e8448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f790687fc2c42cb" /><Relationship Type="http://schemas.openxmlformats.org/officeDocument/2006/relationships/notesMaster" Target="/ppt/notesMasters/notesMaster1.xml" Id="R256d94fbdb0f460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9535246a34c408e" /><Relationship Type="http://schemas.openxmlformats.org/officeDocument/2006/relationships/notesMaster" Target="/ppt/notesMasters/notesMaster1.xml" Id="R3911b17a5f5c48b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65f16265482454a" /><Relationship Type="http://schemas.openxmlformats.org/officeDocument/2006/relationships/notesMaster" Target="/ppt/notesMasters/notesMaster1.xml" Id="R4f1c623892b74b7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93a09a99c0b48ea" /><Relationship Type="http://schemas.openxmlformats.org/officeDocument/2006/relationships/notesMaster" Target="/ppt/notesMasters/notesMaster1.xml" Id="Rf842e36e279046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E01–E15. Source HEAD 88150218bc18c2ddaae5ad880eb79af8b27c2558 plus dirty Phase 6 working tree. Source hashes in ledger.</a:t>
            </a:r>
          </a:p>
          <a:p xmlns:a="http://schemas.openxmlformats.org/drawingml/2006/main">
            <a:r>
              <a:t>Evidence codes and exact report paths: deliverables/research-conclusion/EVIDENCE_LEDGER.mn.md. Historical report values, no new benchmark or API calls.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evaluation/load/PHASE1_RESEARCH_GAP_ANALYSIS.mn.md; app/config.py; app/services/language.py; app/__init__.py.</a:t>
            </a:r>
          </a:p>
          <a:p xmlns:a="http://schemas.openxmlformats.org/drawingml/2006/main">
            <a:r>
              <a:t>Evidence codes and exact report paths: deliverables/research-conclusion/EVIDENCE_LEDGER.mn.md. Historical report values, no new benchmark or API calls.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Code: app/__init__.py, app/models.py, app/services/ingestion.py, parsing.py, chunking.py, retrieval.py, sparse.py, rag.py, openai_provider.py. PostgreSQL is metadata/version source of truth; Chroma stores vectors/text/metadata; local disk stores source, extraction, manifests, sparse JSON.</a:t>
            </a:r>
          </a:p>
          <a:p xmlns:a="http://schemas.openxmlformats.org/drawingml/2006/main">
            <a:r>
              <a:t>Evidence codes and exact report paths: deliverables/research-conclusion/EVIDENCE_LEDGER.mn.md. Historical report values, no new benchmark or API calls.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evaluation phase final reports. VERIFIED is deterministic engineering verification, not human quality acceptance.</a:t>
            </a:r>
          </a:p>
          <a:p xmlns:a="http://schemas.openxmlformats.org/drawingml/2006/main">
            <a:r>
              <a:t>Evidence codes and exact report paths: deliverables/research-conclusion/EVIDENCE_LEDGER.mn.md. Historical report values, no new benchmark or API calls.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evaluation/load/reports/real-load-20261021T042112Z.md; evaluation/load/PHASE1_RESEARCH_GAP_ANALYSIS.mn.md. Real corpus 146 DOCX + 8 DOC; 143/146 DOCX and 8/8 DOC success. No real PDF; CER and structure accuracy N/A.</a:t>
            </a:r>
          </a:p>
          <a:p xmlns:a="http://schemas.openxmlformats.org/drawingml/2006/main">
            <a:r>
              <a:t>Evidence codes and exact report paths: deliverables/research-conclusion/EVIDENCE_LEDGER.mn.md. Historical report values, no new benchmark or API calls.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evaluation/split/PHASE2_FINAL_STATUS.mn.md; OVERLAP_ABLATION.mn.md. Same 151 frozen parser outputs. A0 1800/250 characters, A1 1800/0 characters, A2 fixed 512/0 tokens, A3 recursive 512/0 tokens. Different target units/sizes, not pure algorithm comparison. Estimated tokens 2667761/2340519/2340036/2340099.</a:t>
            </a:r>
          </a:p>
          <a:p xmlns:a="http://schemas.openxmlformats.org/drawingml/2006/main">
            <a:r>
              <a:t>Evidence codes and exact report paths: deliverables/research-conclusion/EVIDENCE_LEDGER.mn.md. Historical report values, no new benchmark or API calls.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evaluation/embed/PHASE3_RESULTS.mn.md; evaluation/integration/PHASE35_INTEGRATION_GATE.mn.md. Embedding baseline text-embedding-3-small 1536-d. 2468 chunks, 2667761 estimated tokens, max 1730. No comprehensive provider timing or model quality comparison.</a:t>
            </a:r>
          </a:p>
          <a:p xmlns:a="http://schemas.openxmlformats.org/drawingml/2006/main">
            <a:r>
              <a:t>Evidence codes and exact report paths: deliverables/research-conclusion/EVIDENCE_LEDGER.mn.md. Historical report values, no new benchmark or API calls.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evaluation/store/ANN_FIDELITY_INVESTIGATION.mn.md. Fixed seeds, insertion order, cosine, M16, efConstruction100. Only ef_search varies. Filter segment=A, 5000 eligible vectors. R@10 and warm P95 are means across 3 trials. No embedding/DB/generation. Historical .394 and controlled .401 are distinct runs. Production ef_search unchanged.</a:t>
            </a:r>
          </a:p>
          <a:p xmlns:a="http://schemas.openxmlformats.org/drawingml/2006/main">
            <a:r>
              <a:t>Evidence codes and exact report paths: deliverables/research-conclusion/EVIDENCE_LEDGER.mn.md. Historical report values, no new benchmark or API calls.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evaluation/retrieval/PHASE5_ARCHITECTURE_AUDIT.mn.md; RETRIEVAL_CORRECTNESS.mn.md; app/services/retrieval.py and sparse.py. Optional reranker exists but disabled by default. Sparse missing/corrupt falls back to dense with degraded flag. Raw branch scores are not fused similarities.</a:t>
            </a:r>
          </a:p>
          <a:p xmlns:a="http://schemas.openxmlformats.org/drawingml/2006/main">
            <a:r>
              <a:t>Evidence codes and exact report paths: deliverables/research-conclusion/EVIDENCE_LEDGER.mn.md. Historical report values, no new benchmark or API calls.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evaluation/retrieval/PERFORMANCE_RESULTS.mn.md; BM25_PERFORMANCE_INVESTIGATION.mn.md. Same frozen 151-doc 2468-chunk corpus, 2 independent questions / 6 correlated variations, 30 timed warm samples. R6 stage P50/P95 before 649.30/705.74, after 214.60/243.39 ms. Total before 704.23/782.34, after 270.96/322.05 ms. P99 discrepancies intentionally omitted.</a:t>
            </a:r>
          </a:p>
          <a:p xmlns:a="http://schemas.openxmlformats.org/drawingml/2006/main">
            <a:r>
              <a:t>Evidence codes and exact report paths: deliverables/research-conclusion/EVIDENCE_LEDGER.mn.md. Historical report values, no new benchmark or API calls.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evaluation/generation/RESULTS.mn.md; CHAPTER9_TRACEABILITY.mn.md. 90 timed fake-provider samples, 90 valid, 0 repair. Offline total P50/P95 2.245/9.978 ms excludes retrieval, SQL, Chroma, API, inference and TTFT. Strict schema, selected immutable source mapping, initial and repair token budget. Valid citation label is not claim entailment.</a:t>
            </a:r>
          </a:p>
          <a:p xmlns:a="http://schemas.openxmlformats.org/drawingml/2006/main">
            <a:r>
              <a:t>Evidence codes and exact report paths: deliverables/research-conclusion/EVIDENCE_LEDGER.mn.md. Historical report values, no new benchmark or API calls.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phase audits. Structural parsing losses remain unresolved; cross-store tested failure recovery does not imply distributed atomicity. Optional advanced methods should follow observed real failures.</a:t>
            </a:r>
          </a:p>
          <a:p xmlns:a="http://schemas.openxmlformats.org/drawingml/2006/main">
            <a:r>
              <a:t>Evidence codes and exact report paths: deliverables/research-conclusion/EVIDENCE_LEDGER.mn.md. Historical report values, no new benchmark or API calls.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Derived recommendations from E02/E06/E10/E11/E13. Reuse contracts/test patterns, not wholesale prototype. Current local-only security guard is not enterprise authorization.</a:t>
            </a:r>
          </a:p>
          <a:p xmlns:a="http://schemas.openxmlformats.org/drawingml/2006/main">
            <a:r>
              <a:t>Evidence codes and exact report paths: deliverables/research-conclusion/EVIDENCE_LEDGER.mn.md. Historical report values, no new benchmark or API calls.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final readiness reports. Only 2 independent human-verified retrieval questions, 6 correlated variations. No human generation labels; OCR test historically skipped due to missing Tesseract. No real inference latency/cost/concurrency or enterprise ACL acceptance.</a:t>
            </a:r>
          </a:p>
          <a:p xmlns:a="http://schemas.openxmlformats.org/drawingml/2006/main">
            <a:r>
              <a:t>Evidence codes and exact report paths: deliverables/research-conclusion/EVIDENCE_LEDGER.mn.md. Historical report values, no new benchmark or API calls.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Recommendations derived from evidence, not measured implementation. Retain lifecycle failure injection, vector identity, manifest hashes, BM25 parity, RRF provenance, immutable citation mapping, budget/schema tests. Advanced features deferred until reviewed failure evidence.</a:t>
            </a:r>
          </a:p>
          <a:p xmlns:a="http://schemas.openxmlformats.org/drawingml/2006/main">
            <a:r>
              <a:t>Evidence codes and exact report paths: deliverables/research-conclusion/EVIDENCE_LEDGER.mn.md. Historical report values, no new benchmark or API calls.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a0e48e8e8b49d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8cc49799a54bc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b2610b959f489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98987558514aa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ea57eb506d4e8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8e88cf822544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179D90-57C3-4377-AD7E-FA75CF1A09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043116F-FD86-45BE-B64E-DAE2FEA1DB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7CABA96-7C4D-46EF-BFC2-CF09D75008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70B46A-3077-4BEF-8965-A57AD3974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55139DA-CD49-4E02-88ED-D82FDC1405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0388EB2-9493-4512-BCC0-866EF4700A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B8245AD-D4A3-40D8-91E0-5E064DAAC4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35152C5-5021-495B-99C6-19E317A8F4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63254B-C8ED-44D6-B8F3-63B4D30BBD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63CBEA6-3A34-4E3D-8C04-1BB505CE2A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c601a2522e4095" /><Relationship Type="http://schemas.openxmlformats.org/officeDocument/2006/relationships/slideLayout" Target="/ppt/slideLayouts/slideLayout1.xml" Id="R22ca155f6c36453c" /><Relationship Type="http://schemas.openxmlformats.org/officeDocument/2006/relationships/slideLayout" Target="/ppt/slideLayouts/slideLayout2.xml" Id="R8a1c1273b99e46f0" /><Relationship Type="http://schemas.openxmlformats.org/officeDocument/2006/relationships/slideLayout" Target="/ppt/slideLayouts/slideLayout3.xml" Id="Rcc4e1c5cded141ab" /><Relationship Type="http://schemas.openxmlformats.org/officeDocument/2006/relationships/slideLayout" Target="/ppt/slideLayouts/slideLayout4.xml" Id="R01de8be3188f4c66" /><Relationship Type="http://schemas.openxmlformats.org/officeDocument/2006/relationships/slideLayout" Target="/ppt/slideLayouts/slideLayout5.xml" Id="R0bc8be5584cb4327" /><Relationship Type="http://schemas.openxmlformats.org/officeDocument/2006/relationships/slideLayout" Target="/ppt/slideLayouts/slideLayout6.xml" Id="Rcf4398ac9f594f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ca155f6c36453c"/>
    <p:sldLayoutId xmlns:r="http://schemas.openxmlformats.org/officeDocument/2006/relationships" id="2147483650" r:id="R8a1c1273b99e46f0"/>
    <p:sldLayoutId xmlns:r="http://schemas.openxmlformats.org/officeDocument/2006/relationships" id="2147483651" r:id="Rcc4e1c5cded141ab"/>
    <p:sldLayoutId xmlns:r="http://schemas.openxmlformats.org/officeDocument/2006/relationships" id="2147483652" r:id="R01de8be3188f4c66"/>
    <p:sldLayoutId xmlns:r="http://schemas.openxmlformats.org/officeDocument/2006/relationships" id="2147483653" r:id="R0bc8be5584cb4327"/>
    <p:sldLayoutId xmlns:r="http://schemas.openxmlformats.org/officeDocument/2006/relationships" id="2147483654" r:id="Rcf4398ac9f594f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e50da2cf9c412e" /><Relationship Type="http://schemas.openxmlformats.org/officeDocument/2006/relationships/notesSlide" Target="/ppt/notesSlides/notesSlide1.xml" Id="R680573c1e3f64f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0b73b645284431" /><Relationship Type="http://schemas.openxmlformats.org/officeDocument/2006/relationships/notesSlide" Target="/ppt/notesSlides/notesSlide2.xml" Id="R2beda454a06e4a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fbe345cf3949e4" /><Relationship Type="http://schemas.openxmlformats.org/officeDocument/2006/relationships/notesSlide" Target="/ppt/notesSlides/notesSlide3.xml" Id="R23721675374841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5338503d3740be" /><Relationship Type="http://schemas.openxmlformats.org/officeDocument/2006/relationships/notesSlide" Target="/ppt/notesSlides/notesSlide4.xml" Id="Rb1cd859ca39e41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ac2aede85a4af0" /><Relationship Type="http://schemas.openxmlformats.org/officeDocument/2006/relationships/notesSlide" Target="/ppt/notesSlides/notesSlide5.xml" Id="Rbbb9dad704364a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0335674b0d464d" /><Relationship Type="http://schemas.openxmlformats.org/officeDocument/2006/relationships/chart" Target="/ppt/slides/charts/chart1.xml" Id="R82df69087ccd42bb" /><Relationship Type="http://schemas.openxmlformats.org/officeDocument/2006/relationships/notesSlide" Target="/ppt/notesSlides/notesSlide6.xml" Id="R00cadd77d49745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f6152f92c945d0" /><Relationship Type="http://schemas.openxmlformats.org/officeDocument/2006/relationships/notesSlide" Target="/ppt/notesSlides/notesSlide7.xml" Id="Rf359e879b41544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5fccee4ccb457f" /><Relationship Type="http://schemas.openxmlformats.org/officeDocument/2006/relationships/chart" Target="/ppt/slides/charts/chart2.xml" Id="Rde6c8397ecf84fcb" /><Relationship Type="http://schemas.openxmlformats.org/officeDocument/2006/relationships/chart" Target="/ppt/slides/charts/chart3.xml" Id="R9c9592d81f8c4dd5" /><Relationship Type="http://schemas.openxmlformats.org/officeDocument/2006/relationships/notesSlide" Target="/ppt/notesSlides/notesSlide8.xml" Id="R1be2b85b22c242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eb6a1c17a74ac2" /><Relationship Type="http://schemas.openxmlformats.org/officeDocument/2006/relationships/notesSlide" Target="/ppt/notesSlides/notesSlide9.xml" Id="R8ad1dc31eea54b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516b95457143d1" /><Relationship Type="http://schemas.openxmlformats.org/officeDocument/2006/relationships/chart" Target="/ppt/slides/charts/chart4.xml" Id="R07c3e99e2cae4769" /><Relationship Type="http://schemas.openxmlformats.org/officeDocument/2006/relationships/notesSlide" Target="/ppt/notesSlides/notesSlide10.xml" Id="R2fd37ba986274c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6526751dc34ce9" /><Relationship Type="http://schemas.openxmlformats.org/officeDocument/2006/relationships/notesSlide" Target="/ppt/notesSlides/notesSlide11.xml" Id="R7b6edfdfe7104bd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657d8cdf2d4b7b" /><Relationship Type="http://schemas.openxmlformats.org/officeDocument/2006/relationships/notesSlide" Target="/ppt/notesSlides/notesSlide12.xml" Id="R6fae1ba340a140b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531a1665b540bc" /><Relationship Type="http://schemas.openxmlformats.org/officeDocument/2006/relationships/notesSlide" Target="/ppt/notesSlides/notesSlide13.xml" Id="R50744bbdf2ea435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e575e33f964005" /><Relationship Type="http://schemas.openxmlformats.org/officeDocument/2006/relationships/notesSlide" Target="/ppt/notesSlides/notesSlide14.xml" Id="Rceedc226e383422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0601d70cf54604" /><Relationship Type="http://schemas.openxmlformats.org/officeDocument/2006/relationships/notesSlide" Target="/ppt/notesSlides/notesSlide15.xml" Id="Ref259ddcf5a84f1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Чанкын тоо</c:v>
          </c:tx>
          <c:spPr>
            <a:solidFill xmlns:a="http://schemas.openxmlformats.org/drawingml/2006/main">
              <a:srgbClr val="164B85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A0 char</c:v>
                </c:pt>
                <c:pt idx="1">
                  <c:v>A1 char</c:v>
                </c:pt>
                <c:pt idx="2">
                  <c:v>A2 fixed</c:v>
                </c:pt>
                <c:pt idx="3">
                  <c:v>A3 recursive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2468</c:v>
                </c:pt>
                <c:pt idx="1">
                  <c:v>2244</c:v>
                </c:pt>
                <c:pt idx="2">
                  <c:v>4946</c:v>
                </c:pt>
                <c:pt idx="3">
                  <c:v>6116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657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7500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Чанкын тоо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Unfiltered</c:v>
          </c:tx>
          <c:spPr>
            <a:ln xmlns:a="http://schemas.openxmlformats.org/drawingml/2006/main" w="28575">
              <a:solidFill>
                <a:srgbClr val="164B85"/>
              </a:solidFill>
            </a:ln>
          </c:spPr>
          <c:marker>
            <c:symbol val="circle"/>
            <c:size val="8"/>
          </c:marker>
          <c:cat>
            <c:numRef>
              <c:f>'Chart Data'!$A$2:$A$5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400</c:v>
                </c:pt>
              </c:numCache>
            </c:num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0.26</c:v>
                </c:pt>
                <c:pt idx="1">
                  <c:v>0.401</c:v>
                </c:pt>
                <c:pt idx="2">
                  <c:v>0.556</c:v>
                </c:pt>
                <c:pt idx="3">
                  <c:v>0.786</c:v>
                </c:pt>
              </c:numCache>
            </c:numRef>
          </c:val>
        </c:ser>
        <c:ser>
          <c:idx val="1"/>
          <c:order val="1"/>
          <c:tx>
            <c:v>Filtered</c:v>
          </c:tx>
          <c:spPr>
            <a:ln xmlns:a="http://schemas.openxmlformats.org/drawingml/2006/main" w="28575">
              <a:solidFill>
                <a:srgbClr val="168A95"/>
              </a:solidFill>
            </a:ln>
          </c:spPr>
          <c:marker>
            <c:symbol val="square"/>
            <c:size val="8"/>
          </c:marker>
          <c:cat>
            <c:numRef>
              <c:f>'Chart Data'!$C$2:$C$5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400</c:v>
                </c:pt>
              </c:numCache>
            </c:numRef>
          </c:cat>
          <c:val>
            <c:numRef>
              <c:f>'Chart Data'!$D$2:$D$5</c:f>
              <c:numCache>
                <c:formatCode>0.0</c:formatCode>
                <c:ptCount val="4"/>
                <c:pt idx="0">
                  <c:v>0.341</c:v>
                </c:pt>
                <c:pt idx="1">
                  <c:v>0.531</c:v>
                </c:pt>
                <c:pt idx="2">
                  <c:v>0.772</c:v>
                </c:pt>
                <c:pt idx="3">
                  <c:v>0.928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657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Index Recall@10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Unfiltered</c:v>
          </c:tx>
          <c:spPr>
            <a:ln xmlns:a="http://schemas.openxmlformats.org/drawingml/2006/main" w="28575">
              <a:solidFill>
                <a:srgbClr val="164B85"/>
              </a:solidFill>
            </a:ln>
          </c:spPr>
          <c:marker>
            <c:symbol val="circle"/>
            <c:size val="8"/>
          </c:marker>
          <c:cat>
            <c:numRef>
              <c:f>'Chart Data'!$A$2:$A$5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400</c:v>
                </c:pt>
              </c:numCache>
            </c:num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3.42</c:v>
                </c:pt>
                <c:pt idx="1">
                  <c:v>4.04</c:v>
                </c:pt>
                <c:pt idx="2">
                  <c:v>5.12</c:v>
                </c:pt>
                <c:pt idx="3">
                  <c:v>6.25</c:v>
                </c:pt>
              </c:numCache>
            </c:numRef>
          </c:val>
        </c:ser>
        <c:ser>
          <c:idx val="1"/>
          <c:order val="1"/>
          <c:tx>
            <c:v>Filtered</c:v>
          </c:tx>
          <c:spPr>
            <a:ln xmlns:a="http://schemas.openxmlformats.org/drawingml/2006/main" w="28575">
              <a:solidFill>
                <a:srgbClr val="168A95"/>
              </a:solidFill>
            </a:ln>
          </c:spPr>
          <c:marker>
            <c:symbol val="square"/>
            <c:size val="8"/>
          </c:marker>
          <c:cat>
            <c:numRef>
              <c:f>'Chart Data'!$C$2:$C$5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400</c:v>
                </c:pt>
              </c:numCache>
            </c:num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14.38</c:v>
                </c:pt>
                <c:pt idx="1">
                  <c:v>15.15</c:v>
                </c:pt>
                <c:pt idx="2">
                  <c:v>15.96</c:v>
                </c:pt>
                <c:pt idx="3">
                  <c:v>17.41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657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0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Warm P95 ms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Өмнөх</c:v>
          </c:tx>
          <c:spPr>
            <a:solidFill xmlns:a="http://schemas.openxmlformats.org/drawingml/2006/main">
              <a:srgbClr val="8A9BAD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P50</c:v>
                </c:pt>
                <c:pt idx="1">
                  <c:v>P95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649.3</c:v>
                </c:pt>
                <c:pt idx="1">
                  <c:v>705.74</c:v>
                </c:pt>
              </c:numCache>
            </c:numRef>
          </c:val>
        </c:ser>
        <c:ser>
          <c:idx val="1"/>
          <c:order val="1"/>
          <c:tx>
            <c:v>Дараах</c:v>
          </c:tx>
          <c:spPr>
            <a:solidFill xmlns:a="http://schemas.openxmlformats.org/drawingml/2006/main">
              <a:srgbClr val="164B85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P50</c:v>
                </c:pt>
                <c:pt idx="1">
                  <c:v>P95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214.6</c:v>
                </c:pt>
                <c:pt idx="1">
                  <c:v>243.39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657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850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BM25 search ms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1367D0-2654-42AE-A9C4-FA775212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56577"/>
                </a:solidFill>
                <a:latin typeface="Arial"/>
                <a:ea typeface="Arial"/>
                <a:cs typeface="Arial"/>
              </a:rPr>
              <a:t>RAG СУДАЛГАА   /   CLEAN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85C19-CC91-4E9F-A8BA-3D1C003E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B44"/>
                </a:solidFill>
                <a:latin typeface="Arial"/>
                <a:ea typeface="Arial"/>
                <a:cs typeface="Arial"/>
              </a:rPr>
              <a:t>RAG судалгааны үр дүн ба</a:t>
            </a:r>
          </a:p>
          <a:p xmlns:a="http://schemas.openxmlformats.org/drawingml/2006/main">
            <a: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B44"/>
                </a:solidFill>
                <a:latin typeface="Arial"/>
                <a:ea typeface="Arial"/>
                <a:cs typeface="Arial"/>
              </a:rPr>
              <a:t>Clean RAG хөгжүүлэлтийн чиглэл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5F4C1D-C157-4C11-BD20-254B6E5C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577"/>
                </a:solidFill>
                <a:latin typeface="Arial"/>
                <a:ea typeface="Arial"/>
                <a:cs typeface="Arial"/>
              </a:rPr>
              <a:t>2026 оны 10 сарын 22   /   rag_chatbot_try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6DBAD-28A3-4097-918D-CA6ACED6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4B8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F77768-FF36-4127-8ACE-9AF7FB5F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4B85"/>
                </a:solidFill>
                <a:latin typeface="Arial"/>
                <a:ea typeface="Arial"/>
                <a:cs typeface="Arial"/>
              </a:rPr>
              <a:t>Инженерийн суурь шалгагдсан</a:t>
            </a:r>
          </a:p>
          <a:p xmlns:a="http://schemas.openxmlformats.org/drawingml/2006/main">
            <a:pPr>
              <a:defRPr sz="33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4B85"/>
                </a:solidFill>
                <a:latin typeface="Arial"/>
                <a:ea typeface="Arial"/>
                <a:cs typeface="Arial"/>
              </a:rPr>
              <a:t>Бодит хариултын чанар батлагдаагүй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366801-9CA2-481A-BB6F-961AD7A6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56577"/>
                </a:solidFill>
                <a:latin typeface="Arial"/>
                <a:ea typeface="Arial"/>
                <a:cs typeface="Arial"/>
              </a:rPr>
              <a:t>Load · Split · Embed · Store · Retrieval · Generation</a:t>
            </a:r>
          </a:p>
        </p:txBody>
      </p:sp>
    </p:spTree>
    <p:extLst>
      <p:ext uri="{BB962C8B-B14F-4D97-AF65-F5344CB8AC3E}">
        <p14:creationId xmlns:p14="http://schemas.microsoft.com/office/powerpoint/2010/main" val="7024435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719914-9981-438C-AAE9-EB48FF27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56577"/>
                </a:solidFill>
                <a:latin typeface="Arial"/>
                <a:ea typeface="Arial"/>
                <a:cs typeface="Arial"/>
              </a:rPr>
              <a:t>RAG СУДАЛГАА   /   CLEAN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B2012-D754-4BFE-B410-9FCF72A9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B44"/>
                </a:solidFill>
                <a:latin typeface="Arial"/>
                <a:ea typeface="Arial"/>
                <a:cs typeface="Arial"/>
              </a:rPr>
              <a:t>Судалгааны зорилго ба хэрэглээ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EDF0A-6C36-4BE2-A312-C480C498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577"/>
                </a:solidFill>
                <a:latin typeface="Arial"/>
                <a:ea typeface="Arial"/>
                <a:cs typeface="Arial"/>
              </a:rPr>
              <a:t>E01–E02, E11, E13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E336C5-FC64-4A48-9956-848BC8D0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4B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2CF390-93B1-4F23-97A0-9CDE324E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B44"/>
                </a:solidFill>
                <a:latin typeface="Arial"/>
                <a:ea typeface="Arial"/>
                <a:cs typeface="Arial"/>
              </a:rPr>
              <a:t>Компанийн бодлого, журмаас эх сурвалжтай Монгол хариулт өгөх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70FF1D-66AB-4265-AA02-7CAC48E3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10668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B44"/>
                </a:solidFill>
                <a:latin typeface="Arial"/>
                <a:ea typeface="Arial"/>
                <a:cs typeface="Arial"/>
              </a:rPr>
              <a:t>PDF, DOCX, DOC parser; бодит хэмжилтэд DOC/DOCX ашигласан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0F23BA-D520-4D27-87C9-22667AF0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86175"/>
            <a:ext cx="10668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B44"/>
                </a:solidFill>
                <a:latin typeface="Arial"/>
                <a:ea typeface="Arial"/>
                <a:cs typeface="Arial"/>
              </a:rPr>
              <a:t>Монгол Кирилл, English, Romanized болон mixed асуулт хүлээн авна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26B2E0-082B-4DFB-8391-2A10A24D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10668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B44"/>
                </a:solidFill>
                <a:latin typeface="Arial"/>
                <a:ea typeface="Arial"/>
                <a:cs typeface="Arial"/>
              </a:rPr>
              <a:t>Зорилго: contract ба bottleneck-ийг шалгаж, clean_rag-ийн суурийг сонгох</a:t>
            </a:r>
          </a:p>
        </p:txBody>
      </p:sp>
    </p:spTree>
    <p:extLst>
      <p:ext uri="{BB962C8B-B14F-4D97-AF65-F5344CB8AC3E}">
        <p14:creationId xmlns:p14="http://schemas.microsoft.com/office/powerpoint/2010/main" val="15769892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E79DD7-AFE6-4CAB-B805-8EBDC281C914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134350" y="3762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4B85"/>
            </a:solidFill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566DBF-DD7D-4E8C-B9FE-EF623A6A8DFE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467350" y="3762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4B85"/>
            </a:solidFill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DAF80F-0812-4114-9F88-71502B9F875E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4371975" y="2667000"/>
            <a:ext cx="5667375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4B85"/>
            </a:solidFill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207203-1058-4EDE-AE08-D3633E634337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4371975" y="2667000"/>
            <a:ext cx="266700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4B85"/>
            </a:solidFill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D4762C-4F07-4006-8E19-596EDAD626BA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800350" y="3762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4B85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497DD9-5FB7-44E7-8915-CF5E656E6F3B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1704975" y="2667000"/>
            <a:ext cx="266700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4B85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FE39CA-89F0-4ED2-AAB6-E55F4B31EBA4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134350" y="2238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4B85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583438-EC1F-459C-9747-0096AD69FA4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467350" y="2238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4B85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EE9840-12FD-4C0B-95E0-DD0FE142E8C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00350" y="2238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4B85"/>
            </a:solidFill>
            <a:tailEnd type="triangl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D5C3A2-1034-4744-8353-74789A8D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56577"/>
                </a:solidFill>
                <a:latin typeface="Arial"/>
                <a:ea typeface="Arial"/>
                <a:cs typeface="Arial"/>
              </a:rPr>
              <a:t>RAG СУДАЛГАА   /   CLEAN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5B384-6F27-42CE-BAC5-341384F4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B44"/>
                </a:solidFill>
                <a:latin typeface="Arial"/>
                <a:ea typeface="Arial"/>
                <a:cs typeface="Arial"/>
              </a:rPr>
              <a:t>Системийн бодит архитектур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567BA3-BF5F-4A18-932A-C78A15A6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577"/>
                </a:solidFill>
                <a:latin typeface="Arial"/>
                <a:ea typeface="Arial"/>
                <a:cs typeface="Arial"/>
              </a:rPr>
              <a:t>E02, E06, E11, E13   /   Optional reranker ба rewrite default-off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947871-337C-40F0-9DBD-0287C858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4B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62DDB-1FAF-4153-9681-A42CD3ED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164B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52B44"/>
                </a:solidFill>
                <a:latin typeface="Arial"/>
                <a:ea typeface="Arial"/>
                <a:cs typeface="Arial"/>
              </a:rPr>
              <a:t>Upload</a:t>
            </a:r>
          </a:p>
          <a:p xmlns:a="http://schemas.openxmlformats.org/drawingml/2006/main">
            <a: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52B44"/>
                </a:solidFill>
                <a:latin typeface="Arial"/>
                <a:ea typeface="Arial"/>
                <a:cs typeface="Arial"/>
              </a:rPr>
              <a:t>Parse /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B9055-29A4-4FFD-AE8B-BEBE7FD7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09750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164B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52B44"/>
                </a:solidFill>
                <a:latin typeface="Arial"/>
                <a:ea typeface="Arial"/>
                <a:cs typeface="Arial"/>
              </a:rPr>
              <a:t>A0 Chunking</a:t>
            </a:r>
          </a:p>
          <a:p xmlns:a="http://schemas.openxmlformats.org/drawingml/2006/main">
            <a: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52B44"/>
                </a:solidFill>
                <a:latin typeface="Arial"/>
                <a:ea typeface="Arial"/>
                <a:cs typeface="Arial"/>
              </a:rPr>
              <a:t>Embedding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CD78A-98CB-4826-B90C-2369C994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09750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164B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52B44"/>
                </a:solidFill>
                <a:latin typeface="Arial"/>
                <a:ea typeface="Arial"/>
                <a:cs typeface="Arial"/>
              </a:rPr>
              <a:t>ChromaDB</a:t>
            </a:r>
          </a:p>
          <a:p xmlns:a="http://schemas.openxmlformats.org/drawingml/2006/main">
            <a: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52B44"/>
                </a:solidFill>
                <a:latin typeface="Arial"/>
                <a:ea typeface="Arial"/>
                <a:cs typeface="Arial"/>
              </a:rPr>
              <a:t>Dense index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62A9D2-0958-4870-80B3-7955BC30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09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164B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52B44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52B44"/>
                </a:solidFill>
                <a:latin typeface="Arial"/>
                <a:ea typeface="Arial"/>
                <a:cs typeface="Arial"/>
              </a:rPr>
              <a:t>State / Active version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7F03A8-35CD-4F7C-866C-A291B76C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164B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52B44"/>
                </a:solidFill>
                <a:latin typeface="Arial"/>
                <a:ea typeface="Arial"/>
                <a:cs typeface="Arial"/>
              </a:rPr>
              <a:t>Local storage</a:t>
            </a:r>
          </a:p>
          <a:p xmlns:a="http://schemas.openxmlformats.org/drawingml/2006/main">
            <a: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52B44"/>
                </a:solidFill>
                <a:latin typeface="Arial"/>
                <a:ea typeface="Arial"/>
                <a:cs typeface="Arial"/>
              </a:rPr>
              <a:t>BM25 + Manifest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D8B7E9-71F1-4470-90FF-B933B031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33750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164B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52B44"/>
                </a:solidFill>
                <a:latin typeface="Arial"/>
                <a:ea typeface="Arial"/>
                <a:cs typeface="Arial"/>
              </a:rPr>
              <a:t>Dense + BM25</a:t>
            </a:r>
          </a:p>
          <a:p xmlns:a="http://schemas.openxmlformats.org/drawingml/2006/main">
            <a: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52B44"/>
                </a:solidFill>
                <a:latin typeface="Arial"/>
                <a:ea typeface="Arial"/>
                <a:cs typeface="Arial"/>
              </a:rPr>
              <a:t>Source 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94B7B6-9721-4C9C-8AA1-E438FA59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33750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164B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52B44"/>
                </a:solidFill>
                <a:latin typeface="Arial"/>
                <a:ea typeface="Arial"/>
                <a:cs typeface="Arial"/>
              </a:rPr>
              <a:t>RRF k=60</a:t>
            </a:r>
          </a:p>
          <a:p xmlns:a="http://schemas.openxmlformats.org/drawingml/2006/main">
            <a: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52B44"/>
                </a:solidFill>
                <a:latin typeface="Arial"/>
                <a:ea typeface="Arial"/>
                <a:cs typeface="Arial"/>
              </a:rPr>
              <a:t>Context budget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90BBB0-503B-4C4D-A687-74A69451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164B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52B44"/>
                </a:solidFill>
                <a:latin typeface="Arial"/>
                <a:ea typeface="Arial"/>
                <a:cs typeface="Arial"/>
              </a:rPr>
              <a:t>OpenAI Generation</a:t>
            </a:r>
          </a:p>
          <a:p xmlns:a="http://schemas.openxmlformats.org/drawingml/2006/main">
            <a: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52B44"/>
                </a:solidFill>
                <a:latin typeface="Arial"/>
                <a:ea typeface="Arial"/>
                <a:cs typeface="Arial"/>
              </a:rPr>
              <a:t>Монгол хариулт + Citation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8CDE15-1912-44AA-AEF6-BA3C1C56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3450"/>
            <a:ext cx="1057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6577"/>
                </a:solidFill>
                <a:latin typeface="Arial"/>
                <a:ea typeface="Arial"/>
                <a:cs typeface="Arial"/>
              </a:rPr>
              <a:t>Disk: эх файл, extraction, manifest, BM25 JSON</a:t>
            </a:r>
          </a:p>
          <a:p xmlns:a="http://schemas.openxmlformats.org/drawingml/2006/main">
            <a:pPr>
              <a:defRPr sz="18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6577"/>
                </a:solidFill>
                <a:latin typeface="Arial"/>
                <a:ea typeface="Arial"/>
                <a:cs typeface="Arial"/>
              </a:rPr>
              <a:t>PostgreSQL: metadata, version, query/evaluation log</a:t>
            </a:r>
          </a:p>
          <a:p xmlns:a="http://schemas.openxmlformats.org/drawingml/2006/main">
            <a:pPr>
              <a:defRPr sz="18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6577"/>
                </a:solidFill>
                <a:latin typeface="Arial"/>
                <a:ea typeface="Arial"/>
                <a:cs typeface="Arial"/>
              </a:rPr>
              <a:t>ChromaDB: vectors, chunk text, canonical ID ба metadata</a:t>
            </a:r>
          </a:p>
        </p:txBody>
      </p:sp>
    </p:spTree>
    <p:extLst>
      <p:ext uri="{BB962C8B-B14F-4D97-AF65-F5344CB8AC3E}">
        <p14:creationId xmlns:p14="http://schemas.microsoft.com/office/powerpoint/2010/main" val="14379968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31760C-EA07-4316-85DD-1C2CC68DA7A0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743950" y="57721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4B85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918603-2307-4294-97BD-4966A477611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943600" y="57721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4B85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774468-FCC6-43FA-AF88-3C9BF62669AA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43250" y="57721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4B85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AF6343-993C-400A-8FAD-D51190DA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56577"/>
                </a:solidFill>
                <a:latin typeface="Arial"/>
                <a:ea typeface="Arial"/>
                <a:cs typeface="Arial"/>
              </a:rPr>
              <a:t>RAG СУДАЛГАА   /   CLEAN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9BAB3-FCCE-4D12-ABA0-BB9153DB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B44"/>
                </a:solidFill>
                <a:latin typeface="Arial"/>
                <a:ea typeface="Arial"/>
                <a:cs typeface="Arial"/>
              </a:rPr>
              <a:t>Үе шатны нотолгоо ба completion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966D9D-0780-4FC8-8690-78D35663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577"/>
                </a:solidFill>
                <a:latin typeface="Arial"/>
                <a:ea typeface="Arial"/>
                <a:cs typeface="Arial"/>
              </a:rPr>
              <a:t>E01–E15   /   Төлөв нь тухайн scope-д хамаарна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B7361C-F2F9-49C4-8AAF-885B1D21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4B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44469-2184-4EED-BB2E-EE89E9AF7C1B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4191000"/>
                <a:gridCol w="4257675"/>
              </a:tblGrid>
              <a:tr h="5635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Үе шат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FE9"/>
                      </a:solidFill>
                      <a:prstDash val="solid"/>
                    </a:lnL>
                    <a:lnR w="9525">
                      <a:solidFill>
                        <a:srgbClr val="D4DFE9"/>
                      </a:solidFill>
                      <a:prstDash val="solid"/>
                    </a:lnR>
                    <a:lnT w="9525">
                      <a:solidFill>
                        <a:srgbClr val="D4DFE9"/>
                      </a:solidFill>
                      <a:prstDash val="solid"/>
                    </a:lnT>
                    <a:lnB w="9525">
                      <a:solidFill>
                        <a:srgbClr val="D4DFE9"/>
                      </a:solidFill>
                      <a:prstDash val="solid"/>
                    </a:lnB>
                    <a:solidFill>
                      <a:srgbClr val="164B8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Хийсэн шалгалт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9"/>
                      </a:solidFill>
                      <a:prstDash val="solid"/>
                    </a:lnR>
                    <a:lnT w="9525">
                      <a:solidFill>
                        <a:srgbClr val="D4DFE9"/>
                      </a:solidFill>
                      <a:prstDash val="solid"/>
                    </a:lnT>
                    <a:lnB w="9525">
                      <a:solidFill>
                        <a:srgbClr val="D4DFE9"/>
                      </a:solidFill>
                      <a:prstDash val="solid"/>
                    </a:lnB>
                    <a:solidFill>
                      <a:srgbClr val="164B8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Эцсийн хязгаар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9"/>
                      </a:solidFill>
                      <a:prstDash val="solid"/>
                    </a:lnR>
                    <a:lnT w="9525">
                      <a:solidFill>
                        <a:srgbClr val="D4DFE9"/>
                      </a:solidFill>
                      <a:prstDash val="solid"/>
                    </a:lnT>
                    <a:lnB w="9525">
                      <a:solidFill>
                        <a:srgbClr val="D4DFE9"/>
                      </a:solidFill>
                      <a:prstDash val="solid"/>
                    </a:lnB>
                    <a:solidFill>
                      <a:srgbClr val="164B85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B44"/>
                          </a:solidFill>
                          <a:latin typeface="Arial"/>
                          <a:ea typeface="Arial"/>
                          <a:cs typeface="Arial"/>
                        </a:rPr>
                        <a:t>Load / Split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FE9"/>
                      </a:solidFill>
                      <a:prstDash val="solid"/>
                    </a:lnL>
                    <a:lnR w="9525">
                      <a:solidFill>
                        <a:srgbClr val="D4DFE9"/>
                      </a:solidFill>
                      <a:prstDash val="solid"/>
                    </a:lnR>
                    <a:lnB w="9525">
                      <a:solidFill>
                        <a:srgbClr val="D4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B44"/>
                          </a:solidFill>
                          <a:latin typeface="Arial"/>
                          <a:ea typeface="Arial"/>
                          <a:cs typeface="Arial"/>
                        </a:rPr>
                        <a:t>Бодит parse, offline split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9"/>
                      </a:solidFill>
                      <a:prstDash val="solid"/>
                    </a:lnR>
                    <a:lnB w="9525">
                      <a:solidFill>
                        <a:srgbClr val="D4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B44"/>
                          </a:solidFill>
                          <a:latin typeface="Arial"/>
                          <a:ea typeface="Arial"/>
                          <a:cs typeface="Arial"/>
                        </a:rPr>
                        <a:t>Extraction / relevance quality N/A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9"/>
                      </a:solidFill>
                      <a:prstDash val="solid"/>
                    </a:lnR>
                    <a:lnB w="9525">
                      <a:solidFill>
                        <a:srgbClr val="D4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B44"/>
                          </a:solidFill>
                          <a:latin typeface="Arial"/>
                          <a:ea typeface="Arial"/>
                          <a:cs typeface="Arial"/>
                        </a:rPr>
                        <a:t>Embed / Integration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FE9"/>
                      </a:solidFill>
                      <a:prstDash val="solid"/>
                    </a:lnL>
                    <a:lnR w="9525">
                      <a:solidFill>
                        <a:srgbClr val="D4DFE9"/>
                      </a:solidFill>
                      <a:prstDash val="solid"/>
                    </a:lnR>
                    <a:lnB w="9525">
                      <a:solidFill>
                        <a:srgbClr val="D4DFE9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B44"/>
                          </a:solidFill>
                          <a:latin typeface="Arial"/>
                          <a:ea typeface="Arial"/>
                          <a:cs typeface="Arial"/>
                        </a:rPr>
                        <a:t>Vector contract, recovery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9"/>
                      </a:solidFill>
                      <a:prstDash val="solid"/>
                    </a:lnR>
                    <a:lnB w="9525">
                      <a:solidFill>
                        <a:srgbClr val="D4DFE9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B44"/>
                          </a:solidFill>
                          <a:latin typeface="Arial"/>
                          <a:ea typeface="Arial"/>
                          <a:cs typeface="Arial"/>
                        </a:rPr>
                        <a:t>Model superiority батлагдаагүй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9"/>
                      </a:solidFill>
                      <a:prstDash val="solid"/>
                    </a:lnR>
                    <a:lnB w="9525">
                      <a:solidFill>
                        <a:srgbClr val="D4DFE9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B44"/>
                          </a:solidFill>
                          <a:latin typeface="Arial"/>
                          <a:ea typeface="Arial"/>
                          <a:cs typeface="Arial"/>
                        </a:rPr>
                        <a:t>Store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FE9"/>
                      </a:solidFill>
                      <a:prstDash val="solid"/>
                    </a:lnL>
                    <a:lnR w="9525">
                      <a:solidFill>
                        <a:srgbClr val="D4DFE9"/>
                      </a:solidFill>
                      <a:prstDash val="solid"/>
                    </a:lnR>
                    <a:lnB w="9525">
                      <a:solidFill>
                        <a:srgbClr val="D4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B44"/>
                          </a:solidFill>
                          <a:latin typeface="Arial"/>
                          <a:ea typeface="Arial"/>
                          <a:cs typeface="Arial"/>
                        </a:rPr>
                        <a:t>Synthetic ANN fidelity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9"/>
                      </a:solidFill>
                      <a:prstDash val="solid"/>
                    </a:lnR>
                    <a:lnB w="9525">
                      <a:solidFill>
                        <a:srgbClr val="D4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B44"/>
                          </a:solidFill>
                          <a:latin typeface="Arial"/>
                          <a:ea typeface="Arial"/>
                          <a:cs typeface="Arial"/>
                        </a:rPr>
                        <a:t>Human relevance биш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9"/>
                      </a:solidFill>
                      <a:prstDash val="solid"/>
                    </a:lnR>
                    <a:lnB w="9525">
                      <a:solidFill>
                        <a:srgbClr val="D4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B44"/>
                          </a:solidFill>
                          <a:latin typeface="Arial"/>
                          <a:ea typeface="Arial"/>
                          <a:cs typeface="Arial"/>
                        </a:rPr>
                        <a:t>Retrieval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FE9"/>
                      </a:solidFill>
                      <a:prstDash val="solid"/>
                    </a:lnL>
                    <a:lnR w="9525">
                      <a:solidFill>
                        <a:srgbClr val="D4DFE9"/>
                      </a:solidFill>
                      <a:prstDash val="solid"/>
                    </a:lnR>
                    <a:lnB w="9525">
                      <a:solidFill>
                        <a:srgbClr val="D4DFE9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B44"/>
                          </a:solidFill>
                          <a:latin typeface="Arial"/>
                          <a:ea typeface="Arial"/>
                          <a:cs typeface="Arial"/>
                        </a:rPr>
                        <a:t>Formula, RRF, latency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9"/>
                      </a:solidFill>
                      <a:prstDash val="solid"/>
                    </a:lnR>
                    <a:lnB w="9525">
                      <a:solidFill>
                        <a:srgbClr val="D4DFE9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B44"/>
                          </a:solidFill>
                          <a:latin typeface="Arial"/>
                          <a:ea typeface="Arial"/>
                          <a:cs typeface="Arial"/>
                        </a:rPr>
                        <a:t>Relevance winner алга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9"/>
                      </a:solidFill>
                      <a:prstDash val="solid"/>
                    </a:lnR>
                    <a:lnB w="9525">
                      <a:solidFill>
                        <a:srgbClr val="D4DFE9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B44"/>
                          </a:solidFill>
                          <a:latin typeface="Arial"/>
                          <a:ea typeface="Arial"/>
                          <a:cs typeface="Arial"/>
                        </a:rPr>
                        <a:t>Generation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FE9"/>
                      </a:solidFill>
                      <a:prstDash val="solid"/>
                    </a:lnL>
                    <a:lnR w="9525">
                      <a:solidFill>
                        <a:srgbClr val="D4DFE9"/>
                      </a:solidFill>
                      <a:prstDash val="solid"/>
                    </a:lnR>
                    <a:lnB w="9525">
                      <a:solidFill>
                        <a:srgbClr val="D4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B44"/>
                          </a:solidFill>
                          <a:latin typeface="Arial"/>
                          <a:ea typeface="Arial"/>
                          <a:cs typeface="Arial"/>
                        </a:rPr>
                        <a:t>Context / citation contract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9"/>
                      </a:solidFill>
                      <a:prstDash val="solid"/>
                    </a:lnR>
                    <a:lnB w="9525">
                      <a:solidFill>
                        <a:srgbClr val="D4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B44"/>
                          </a:solidFill>
                          <a:latin typeface="Arial"/>
                          <a:ea typeface="Arial"/>
                          <a:cs typeface="Arial"/>
                        </a:rPr>
                        <a:t>Human answer quality NOT READY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9"/>
                      </a:solidFill>
                      <a:prstDash val="solid"/>
                    </a:lnR>
                    <a:lnB w="9525">
                      <a:solidFill>
                        <a:srgbClr val="D4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31F6D7-171E-421E-B117-D7109354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2533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164B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52B44"/>
                </a:solidFill>
                <a:latin typeface="Arial"/>
                <a:ea typeface="Arial"/>
                <a:cs typeface="Arial"/>
              </a:rPr>
              <a:t>Frozen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4463E4-C54C-4A13-A46E-513FE52D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476875"/>
            <a:ext cx="2533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164B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52B44"/>
                </a:solidFill>
                <a:latin typeface="Arial"/>
                <a:ea typeface="Arial"/>
                <a:cs typeface="Arial"/>
              </a:rPr>
              <a:t>Controlled variable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E4FA47-5266-4F17-A6C1-D6547519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76875"/>
            <a:ext cx="2533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164B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52B44"/>
                </a:solidFill>
                <a:latin typeface="Arial"/>
                <a:ea typeface="Arial"/>
                <a:cs typeface="Arial"/>
              </a:rPr>
              <a:t>Хэмжилт / 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E3D876-2016-45D2-A9AA-0782E582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76875"/>
            <a:ext cx="2533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164B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52B44"/>
                </a:solidFill>
                <a:latin typeface="Arial"/>
                <a:ea typeface="Arial"/>
                <a:cs typeface="Arial"/>
              </a:rPr>
              <a:t>Evidence / Шийдвэр</a:t>
            </a:r>
          </a:p>
        </p:txBody>
      </p:sp>
    </p:spTree>
    <p:extLst>
      <p:ext uri="{BB962C8B-B14F-4D97-AF65-F5344CB8AC3E}">
        <p14:creationId xmlns:p14="http://schemas.microsoft.com/office/powerpoint/2010/main" val="21174051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D58916-B2E8-465A-98C4-2102E1E0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56577"/>
                </a:solidFill>
                <a:latin typeface="Arial"/>
                <a:ea typeface="Arial"/>
                <a:cs typeface="Arial"/>
              </a:rPr>
              <a:t>RAG СУДАЛГАА   /   CLEAN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7C839F-61D7-4732-A9A8-F504F81B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B44"/>
                </a:solidFill>
                <a:latin typeface="Arial"/>
                <a:ea typeface="Arial"/>
                <a:cs typeface="Arial"/>
              </a:rPr>
              <a:t>Load үр дүн ба parsing-ийн хязгаар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561C64-FF64-4C06-8DE6-97C2595D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577"/>
                </a:solidFill>
                <a:latin typeface="Arial"/>
                <a:ea typeface="Arial"/>
                <a:cs typeface="Arial"/>
              </a:rPr>
              <a:t>E01 run e948b4c9-c855-42fe-b939-d635364b9a2c   /   E02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B6C362-B6F4-4C31-BF43-EDA75BA1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4B8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C25618-63A0-40FC-981A-1DCA5CE3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5715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64B85"/>
                </a:solidFill>
                <a:latin typeface="Arial"/>
                <a:ea typeface="Arial"/>
                <a:cs typeface="Arial"/>
              </a:rPr>
              <a:t>151 / 154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1AC0C-28A3-4A0F-A8FC-1DFE3E64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B44"/>
                </a:solidFill>
                <a:latin typeface="Arial"/>
                <a:ea typeface="Arial"/>
                <a:cs typeface="Arial"/>
              </a:rPr>
              <a:t>Parse success   ·   3 empty_document failure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0E5A0C-E8FB-4528-8518-9F97F650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B44"/>
                </a:solidFill>
                <a:latin typeface="Arial"/>
                <a:ea typeface="Arial"/>
                <a:cs typeface="Arial"/>
              </a:rPr>
              <a:t>Parser-only P50 973.52 ms, P95 3869.25 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22728-85AA-4F69-9F7F-4C39FEBA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B44"/>
                </a:solidFill>
                <a:latin typeface="Arial"/>
                <a:ea typeface="Arial"/>
                <a:cs typeface="Arial"/>
              </a:rPr>
              <a:t>Text box / image text, numbering, heading hierarchy, table structure дутуу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0B14D8-1668-4650-994F-B6C193AE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B44"/>
                </a:solidFill>
                <a:latin typeface="Arial"/>
                <a:ea typeface="Arial"/>
                <a:cs typeface="Arial"/>
              </a:rPr>
              <a:t>Амжилттай parse нь extraction completeness батлахгүй</a:t>
            </a:r>
          </a:p>
        </p:txBody>
      </p:sp>
    </p:spTree>
    <p:extLst>
      <p:ext uri="{BB962C8B-B14F-4D97-AF65-F5344CB8AC3E}">
        <p14:creationId xmlns:p14="http://schemas.microsoft.com/office/powerpoint/2010/main" val="11715752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36CA46-079A-4A34-A758-104962BC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56577"/>
                </a:solidFill>
                <a:latin typeface="Arial"/>
                <a:ea typeface="Arial"/>
                <a:cs typeface="Arial"/>
              </a:rPr>
              <a:t>RAG СУДАЛГАА   /   CLEAN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6D75FA-797F-4C53-A6ED-9DBFD91D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B44"/>
                </a:solidFill>
                <a:latin typeface="Arial"/>
                <a:ea typeface="Arial"/>
                <a:cs typeface="Arial"/>
              </a:rPr>
              <a:t>Chunking хэмжээ ба provisional A0 сонголт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80E535-E199-43B3-A9FE-CB373ED7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577"/>
                </a:solidFill>
                <a:latin typeface="Arial"/>
                <a:ea typeface="Arial"/>
                <a:cs typeface="Arial"/>
              </a:rPr>
              <a:t>E03 A0 1dc80917…; A1–A3 ecf27e9c…   /   E04 overlap 95a117e7…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73D532-7F61-4342-A383-C3488B02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4B8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0EC09A86-E727-47D1-946D-5F803F14AF9A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7143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2df69087ccd42b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DE085-1BA6-4C75-A98E-708CD63E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38350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4B85"/>
                </a:solidFill>
                <a:latin typeface="Arial"/>
                <a:ea typeface="Arial"/>
                <a:cs typeface="Arial"/>
              </a:rPr>
              <a:t>A0 1800/250 char</a:t>
            </a:r>
          </a:p>
          <a:p xmlns:a="http://schemas.openxmlformats.org/drawingml/2006/main">
            <a:pPr>
              <a:defRPr sz="24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4B85"/>
                </a:solidFill>
                <a:latin typeface="Arial"/>
                <a:ea typeface="Arial"/>
                <a:cs typeface="Arial"/>
              </a:rPr>
              <a:t>PROVISIONAL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59E9B9-9F21-4791-8D30-F9B2A1EB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3333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B44"/>
                </a:solidFill>
                <a:latin typeface="Arial"/>
                <a:ea typeface="Arial"/>
                <a:cs typeface="Arial"/>
              </a:rPr>
              <a:t>Existing integration тогтвортой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B44"/>
                </a:solidFill>
                <a:latin typeface="Arial"/>
                <a:ea typeface="Arial"/>
                <a:cs typeface="Arial"/>
              </a:rPr>
              <a:t>Relevance winner алга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B44"/>
                </a:solidFill>
                <a:latin typeface="Arial"/>
                <a:ea typeface="Arial"/>
                <a:cs typeface="Arial"/>
              </a:rPr>
              <a:t>Overlap нь token cost өсгөсөн</a:t>
            </a:r>
          </a:p>
        </p:txBody>
      </p:sp>
    </p:spTree>
    <p:extLst>
      <p:ext uri="{BB962C8B-B14F-4D97-AF65-F5344CB8AC3E}">
        <p14:creationId xmlns:p14="http://schemas.microsoft.com/office/powerpoint/2010/main" val="17065230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E22AB-43B3-4F24-8169-AD2DA42A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56577"/>
                </a:solidFill>
                <a:latin typeface="Arial"/>
                <a:ea typeface="Arial"/>
                <a:cs typeface="Arial"/>
              </a:rPr>
              <a:t>RAG СУДАЛГАА   /   CLEAN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F4E6D-E364-4E7A-93A0-D3E8F6A9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B44"/>
                </a:solidFill>
                <a:latin typeface="Arial"/>
                <a:ea typeface="Arial"/>
                <a:cs typeface="Arial"/>
              </a:rPr>
              <a:t>Embedding ба хадгалалтын сонголт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8DE718-7870-411B-9E2C-7BABE5BD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577"/>
                </a:solidFill>
                <a:latin typeface="Arial"/>
                <a:ea typeface="Arial"/>
                <a:cs typeface="Arial"/>
              </a:rPr>
              <a:t>E05 d2031800b3ec, 5cad4b7d3288   /   E06 integration gate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4C94DC-8898-4F97-AF6D-9C2F3AAC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4B8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EB3F7-FF19-4698-A88C-3331F379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B44"/>
                </a:solidFill>
                <a:latin typeface="Arial"/>
                <a:ea typeface="Arial"/>
                <a:cs typeface="Arial"/>
              </a:rPr>
              <a:t>text-embedding-3-small, 1,536 dimensions нь 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878D2-CCB8-4BC1-B127-AD94E091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10668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B44"/>
                </a:solidFill>
                <a:latin typeface="Arial"/>
                <a:ea typeface="Arial"/>
                <a:cs typeface="Arial"/>
              </a:rPr>
              <a:t>Model / preprocessing / normalization / convention fingerprint шаардлагатай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4BBBD1-2E83-4044-9A75-B8A6CBD3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86175"/>
            <a:ext cx="10668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B44"/>
                </a:solidFill>
                <a:latin typeface="Arial"/>
                <a:ea typeface="Arial"/>
                <a:cs typeface="Arial"/>
              </a:rPr>
              <a:t>PostgreSQL active version; Chroma vector index; disk manifest/BM25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EF853B-2F46-4223-8649-C8E8EA02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10668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B44"/>
                </a:solidFill>
                <a:latin typeface="Arial"/>
                <a:ea typeface="Arial"/>
                <a:cs typeface="Arial"/>
              </a:rPr>
              <a:t>Activation failure үед хуучин active хадгалагдаж orphan reconcile хийгдсэн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CE9CD7-DFA3-440D-A381-D638CEC0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4B85"/>
                </a:solidFill>
                <a:latin typeface="Arial"/>
                <a:ea typeface="Arial"/>
                <a:cs typeface="Arial"/>
              </a:rPr>
              <a:t>Ижил dimensions нь ижил embedding space гэсэн үг биш</a:t>
            </a:r>
          </a:p>
        </p:txBody>
      </p:sp>
    </p:spTree>
    <p:extLst>
      <p:ext uri="{BB962C8B-B14F-4D97-AF65-F5344CB8AC3E}">
        <p14:creationId xmlns:p14="http://schemas.microsoft.com/office/powerpoint/2010/main" val="17716683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26B040-BBED-401C-85D4-56B8EC3D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56577"/>
                </a:solidFill>
                <a:latin typeface="Arial"/>
                <a:ea typeface="Arial"/>
                <a:cs typeface="Arial"/>
              </a:rPr>
              <a:t>RAG СУДАЛГАА   /   CLEAN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0F4D1-3419-40F1-8740-5AB7FFDB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B44"/>
                </a:solidFill>
                <a:latin typeface="Arial"/>
                <a:ea typeface="Arial"/>
                <a:cs typeface="Arial"/>
              </a:rPr>
              <a:t>Synthetic HNSW fidelity ба latency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7B28A-8A96-42E5-A404-BA1AC2C7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577"/>
                </a:solidFill>
                <a:latin typeface="Arial"/>
                <a:ea typeface="Arial"/>
                <a:cs typeface="Arial"/>
              </a:rPr>
              <a:t>E08 run 99525c3dbb9a   /   N=10,000, d=1,536, 3 build × 32 query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71606C-5DE2-4CE0-8CF3-64C13421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4B8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6B8C0E26-83DB-4902-9E0F-26BF84A5F034}"/>
              </a:ext>
            </a:extLst>
          </p:cNvPr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52387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e6c8397ecf84fcb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6889D939-6940-48DB-AFFB-2FC067D26D5E}"/>
              </a:ext>
            </a:extLst>
          </p:cNvPr>
          <p:cNvGraphicFramePr/>
          <p:nvPr/>
        </p:nvGraphicFramePr>
        <p:xfrm>
          <a:off xmlns:a="http://schemas.openxmlformats.org/drawingml/2006/main" x="6210300" y="2095500"/>
          <a:ext xmlns:a="http://schemas.openxmlformats.org/drawingml/2006/main" cx="52387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c9592d81f8c4dd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AFF3ED-5D7F-413C-8CDE-C1F2EC74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4B85"/>
                </a:solidFill>
                <a:latin typeface="Arial"/>
                <a:ea typeface="Arial"/>
                <a:cs typeface="Arial"/>
              </a:rPr>
              <a:t>ef_search өсөхөд exact neighbor overlap ба latency өссөн</a:t>
            </a:r>
          </a:p>
          <a:p xmlns:a="http://schemas.openxmlformats.org/drawingml/2006/main">
            <a:pPr>
              <a:defRPr sz="1875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4B85"/>
                </a:solidFill>
                <a:latin typeface="Arial"/>
                <a:ea typeface="Arial"/>
                <a:cs typeface="Arial"/>
              </a:rPr>
              <a:t>Энэ нь Монгол retrieval relevance-ийн хэмжүүр биш</a:t>
            </a:r>
          </a:p>
        </p:txBody>
      </p:sp>
    </p:spTree>
    <p:extLst>
      <p:ext uri="{BB962C8B-B14F-4D97-AF65-F5344CB8AC3E}">
        <p14:creationId xmlns:p14="http://schemas.microsoft.com/office/powerpoint/2010/main" val="9234031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BE44A3-D8EE-470E-B9CF-E47B22E8820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6096000" y="3143250"/>
            <a:ext cx="95250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4B85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4F983D-C248-4E02-8D2C-D33E1649350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096000" y="2286000"/>
            <a:ext cx="95250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4B85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FFD10D-27D6-4805-9E3F-0502A895260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52750" y="2905125"/>
            <a:ext cx="762000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4B85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4471BA-DC90-4C5A-8DBC-72AEC16C6D7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952750" y="2286000"/>
            <a:ext cx="76200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4B85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DB30D2-69CE-4883-B6CD-0F647A4D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56577"/>
                </a:solidFill>
                <a:latin typeface="Arial"/>
                <a:ea typeface="Arial"/>
                <a:cs typeface="Arial"/>
              </a:rPr>
              <a:t>RAG СУДАЛГАА   /   CLEAN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EF98F8-2522-4719-B98F-54ADE8D7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B44"/>
                </a:solidFill>
                <a:latin typeface="Arial"/>
                <a:ea typeface="Arial"/>
                <a:cs typeface="Arial"/>
              </a:rPr>
              <a:t>BM25 Dense Hybrid ба RRF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12BF91-5553-4293-B88E-3978A021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577"/>
                </a:solidFill>
                <a:latin typeface="Arial"/>
                <a:ea typeface="Arial"/>
                <a:cs typeface="Arial"/>
              </a:rPr>
              <a:t>E11   /   Default Dense 15 + BM25 15, RRF k=60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39FCE-8A2D-4F92-A448-19BB0709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4B8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CBF48E-E23A-4246-8B71-E91A31CA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164B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52B44"/>
                </a:solidFill>
                <a:latin typeface="Arial"/>
                <a:ea typeface="Arial"/>
                <a:cs typeface="Arial"/>
              </a:rPr>
              <a:t>Original query</a:t>
            </a:r>
          </a:p>
          <a:p xmlns:a="http://schemas.openxmlformats.org/drawingml/2006/main">
            <a: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52B44"/>
                </a:solidFill>
                <a:latin typeface="Arial"/>
                <a:ea typeface="Arial"/>
                <a:cs typeface="Arial"/>
              </a:rPr>
              <a:t>+ language variants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D85A95-7B89-4F69-92DD-CF31FCDC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57375"/>
            <a:ext cx="238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164B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52B44"/>
                </a:solidFill>
                <a:latin typeface="Arial"/>
                <a:ea typeface="Arial"/>
                <a:cs typeface="Arial"/>
              </a:rPr>
              <a:t>Dense ranking</a:t>
            </a:r>
          </a:p>
          <a:p xmlns:a="http://schemas.openxmlformats.org/drawingml/2006/main">
            <a: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52B44"/>
                </a:solidFill>
                <a:latin typeface="Arial"/>
                <a:ea typeface="Arial"/>
                <a:cs typeface="Arial"/>
              </a:rPr>
              <a:t>Vector distance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A55243-BAAD-4EA9-A922-4823742E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71875"/>
            <a:ext cx="238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164B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52B44"/>
                </a:solidFill>
                <a:latin typeface="Arial"/>
                <a:ea typeface="Arial"/>
                <a:cs typeface="Arial"/>
              </a:rPr>
              <a:t>BM25 ranking</a:t>
            </a:r>
          </a:p>
          <a:p xmlns:a="http://schemas.openxmlformats.org/drawingml/2006/main">
            <a: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52B44"/>
                </a:solidFill>
                <a:latin typeface="Arial"/>
                <a:ea typeface="Arial"/>
                <a:cs typeface="Arial"/>
              </a:rPr>
              <a:t>Lexical score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FD8C95-CC4C-478E-B135-9B2AC429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19375"/>
            <a:ext cx="342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164B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52B44"/>
                </a:solidFill>
                <a:latin typeface="Arial"/>
                <a:ea typeface="Arial"/>
                <a:cs typeface="Arial"/>
              </a:rPr>
              <a:t>Source validation</a:t>
            </a:r>
          </a:p>
          <a:p xmlns:a="http://schemas.openxmlformats.org/drawingml/2006/main">
            <a: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52B44"/>
                </a:solidFill>
                <a:latin typeface="Arial"/>
                <a:ea typeface="Arial"/>
                <a:cs typeface="Arial"/>
              </a:rPr>
              <a:t>RRF rank fusion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32A74E-BA50-4817-8745-F5584D5B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B44"/>
                </a:solidFill>
                <a:latin typeface="Arial"/>
                <a:ea typeface="Arial"/>
                <a:cs typeface="Arial"/>
              </a:rPr>
              <a:t>RRF contribution = 1 / (60 + rank)</a:t>
            </a:r>
          </a:p>
          <a:p xmlns:a="http://schemas.openxmlformats.org/drawingml/2006/main">
            <a: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B44"/>
                </a:solidFill>
                <a:latin typeface="Arial"/>
                <a:ea typeface="Arial"/>
                <a:cs typeface="Arial"/>
              </a:rPr>
              <a:t>Branch score ба distance нь тусдаа provenance-тай</a:t>
            </a:r>
          </a:p>
        </p:txBody>
      </p:sp>
    </p:spTree>
    <p:extLst>
      <p:ext uri="{BB962C8B-B14F-4D97-AF65-F5344CB8AC3E}">
        <p14:creationId xmlns:p14="http://schemas.microsoft.com/office/powerpoint/2010/main" val="12687450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44E8B9-3B5F-4F5A-80D8-9A1E73B4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56577"/>
                </a:solidFill>
                <a:latin typeface="Arial"/>
                <a:ea typeface="Arial"/>
                <a:cs typeface="Arial"/>
              </a:rPr>
              <a:t>RAG СУДАЛГАА   /   CLEAN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3F7DBC-73A3-46DC-9D54-DFA46D13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B44"/>
                </a:solidFill>
                <a:latin typeface="Arial"/>
                <a:ea typeface="Arial"/>
                <a:cs typeface="Arial"/>
              </a:rPr>
              <a:t>BM25 optimization үр дүн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86527-6D43-4364-AFA9-F8672CAB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577"/>
                </a:solidFill>
                <a:latin typeface="Arial"/>
                <a:ea typeface="Arial"/>
                <a:cs typeface="Arial"/>
              </a:rPr>
              <a:t>E09 run 424b37001c92   /   E10 final R6 670e5417c260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9A1FDA-920D-4AEF-B824-ABBA14E0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4B8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D958C26B-154E-484F-BC0D-7F5B41A347CA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7239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7c3e99e2cae476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4FC4A3-AC7A-43CE-A054-7EFACAFE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47875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defPPr>
            <a:lvl1pPr>
              <a:defRPr sz="42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1pPr>
            <a:lvl2pPr>
              <a:defRPr sz="42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2pPr>
            <a:lvl3pPr>
              <a:defRPr sz="42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3pPr>
            <a:lvl4pPr>
              <a:defRPr sz="42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4pPr>
            <a:lvl5pPr>
              <a:defRPr sz="42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5pPr>
            <a:lvl6pPr>
              <a:defRPr sz="42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6pPr>
            <a:lvl7pPr>
              <a:defRPr sz="42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7pPr>
            <a:lvl8pPr>
              <a:defRPr sz="42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8pPr>
            <a:lvl9pPr>
              <a:defRPr sz="42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64B85"/>
                </a:solidFill>
                <a:latin typeface="Arial"/>
                <a:ea typeface="Arial"/>
                <a:cs typeface="Arial"/>
              </a:rPr>
              <a:t>−67.0%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E19725-6637-44E9-879E-9916EAA8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48000"/>
            <a:ext cx="3143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B44"/>
                </a:solidFill>
                <a:latin typeface="Arial"/>
                <a:ea typeface="Arial"/>
                <a:cs typeface="Arial"/>
              </a:rPr>
              <a:t>P50 бууралт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B44"/>
                </a:solidFill>
                <a:latin typeface="Arial"/>
                <a:ea typeface="Arial"/>
                <a:cs typeface="Arial"/>
              </a:rPr>
              <a:t>LRU 32 → 256</a:t>
            </a:r>
          </a:p>
          <a:p xmlns:a="http://schemas.openxmlformats.org/drawingml/2006/main">
            <a:pPr>
              <a:defRPr sz="195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B44"/>
                </a:solidFill>
                <a:latin typeface="Arial"/>
                <a:ea typeface="Arial"/>
                <a:cs typeface="Arial"/>
              </a:rPr>
              <a:t>Digest-based stats key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B44"/>
                </a:solidFill>
                <a:latin typeface="Arial"/>
                <a:ea typeface="Arial"/>
                <a:cs typeface="Arial"/>
              </a:rPr>
              <a:t>Integrity checks хэвээр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7BE56C-861E-4474-94FC-2C36CCB6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6577"/>
                </a:solidFill>
                <a:latin typeface="Arial"/>
                <a:ea typeface="Arial"/>
                <a:cs typeface="Arial"/>
              </a:rPr>
              <a:t>30/30 rank parity, score error ≤1e−12   /   Production SLA биш</a:t>
            </a:r>
          </a:p>
        </p:txBody>
      </p:sp>
    </p:spTree>
    <p:extLst>
      <p:ext uri="{BB962C8B-B14F-4D97-AF65-F5344CB8AC3E}">
        <p14:creationId xmlns:p14="http://schemas.microsoft.com/office/powerpoint/2010/main" val="7877582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72662E-DA3B-49E4-9D0A-B76E06EBB99A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429500" y="27622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4B85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F21D01-B9DE-4613-9A4E-5C642B62E01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524250" y="27622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4B85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7DB74A-FA7E-48F7-AA03-61BA893F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56577"/>
                </a:solidFill>
                <a:latin typeface="Arial"/>
                <a:ea typeface="Arial"/>
                <a:cs typeface="Arial"/>
              </a:rPr>
              <a:t>RAG СУДАЛГАА   /   CLEAN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5C1574-3425-4A49-BB56-E4EDF243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B44"/>
                </a:solidFill>
                <a:latin typeface="Arial"/>
                <a:ea typeface="Arial"/>
                <a:cs typeface="Arial"/>
              </a:rPr>
              <a:t>Evidence ба citation холбоос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CFCD5-8E40-4158-82B8-FB14E518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577"/>
                </a:solidFill>
                <a:latin typeface="Arial"/>
                <a:ea typeface="Arial"/>
                <a:cs typeface="Arial"/>
              </a:rPr>
              <a:t>E12 run 6e04a8856e0b   /   E13 Chapter 9 traceability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A6EFA5-BD26-41EE-A434-00BAFED2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4B8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6503BE-98E9-4BB1-A097-AE9D32C3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164B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52B44"/>
                </a:solidFill>
                <a:latin typeface="Arial"/>
                <a:ea typeface="Arial"/>
                <a:cs typeface="Arial"/>
              </a:rPr>
              <a:t>Selected evidence</a:t>
            </a:r>
          </a:p>
          <a:p xmlns:a="http://schemas.openxmlformats.org/drawingml/2006/main">
            <a: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52B44"/>
                </a:solidFill>
                <a:latin typeface="Arial"/>
                <a:ea typeface="Arial"/>
                <a:cs typeface="Arial"/>
              </a:rPr>
              <a:t>Canonical source 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017810-C9F3-4487-A90A-6256EC77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38375"/>
            <a:ext cx="2952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164B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52B44"/>
                </a:solidFill>
                <a:latin typeface="Arial"/>
                <a:ea typeface="Arial"/>
                <a:cs typeface="Arial"/>
              </a:rPr>
              <a:t>Immutable S# map</a:t>
            </a:r>
          </a:p>
          <a:p xmlns:a="http://schemas.openxmlformats.org/drawingml/2006/main">
            <a: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52B44"/>
                </a:solidFill>
                <a:latin typeface="Arial"/>
                <a:ea typeface="Arial"/>
                <a:cs typeface="Arial"/>
              </a:rPr>
              <a:t>Budget + JSON schema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58AE7-2ED5-441E-A26C-380ED071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38375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164B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52B44"/>
                </a:solidFill>
                <a:latin typeface="Arial"/>
                <a:ea typeface="Arial"/>
                <a:cs typeface="Arial"/>
              </a:rPr>
              <a:t>Монгол answer</a:t>
            </a:r>
          </a:p>
          <a:p xmlns:a="http://schemas.openxmlformats.org/drawingml/2006/main">
            <a: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52B44"/>
                </a:solidFill>
                <a:latin typeface="Arial"/>
                <a:ea typeface="Arial"/>
                <a:cs typeface="Arial"/>
              </a:rPr>
              <a:t>Citation validator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F98C08-BB15-4806-A43D-951999F9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361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64B85"/>
                </a:solidFill>
                <a:latin typeface="Arial"/>
                <a:ea typeface="Arial"/>
                <a:cs typeface="Arial"/>
              </a:rPr>
              <a:t>90 / 90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614D47-030D-47B9-8380-B713EE0C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81450"/>
            <a:ext cx="6762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B44"/>
                </a:solidFill>
                <a:latin typeface="Arial"/>
                <a:ea typeface="Arial"/>
                <a:cs typeface="Arial"/>
              </a:rPr>
              <a:t>Fake response contract validated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B44"/>
                </a:solidFill>
                <a:latin typeface="Arial"/>
                <a:ea typeface="Arial"/>
                <a:cs typeface="Arial"/>
              </a:rPr>
              <a:t>Claim support ба answer correctness</a:t>
            </a:r>
          </a:p>
          <a:p xmlns:a="http://schemas.openxmlformats.org/drawingml/2006/main">
            <a: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B44"/>
                </a:solidFill>
                <a:latin typeface="Arial"/>
                <a:ea typeface="Arial"/>
                <a:cs typeface="Arial"/>
              </a:rPr>
              <a:t>хүний үнэлгээгүй</a:t>
            </a:r>
          </a:p>
        </p:txBody>
      </p:sp>
    </p:spTree>
    <p:extLst>
      <p:ext uri="{BB962C8B-B14F-4D97-AF65-F5344CB8AC3E}">
        <p14:creationId xmlns:p14="http://schemas.microsoft.com/office/powerpoint/2010/main" val="9208977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2A271-73E4-4D42-B644-907435BC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56577"/>
                </a:solidFill>
                <a:latin typeface="Arial"/>
                <a:ea typeface="Arial"/>
                <a:cs typeface="Arial"/>
              </a:rPr>
              <a:t>RAG СУДАЛГАА   /   CLEAN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F8F275-59AF-404E-A2F5-56A7F870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B44"/>
                </a:solidFill>
                <a:latin typeface="Arial"/>
                <a:ea typeface="Arial"/>
                <a:cs typeface="Arial"/>
              </a:rPr>
              <a:t>Инженерчлэлийн гол сургамж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649BFB-69CD-487A-9709-CC0FF627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577"/>
                </a:solidFill>
                <a:latin typeface="Arial"/>
                <a:ea typeface="Arial"/>
                <a:cs typeface="Arial"/>
              </a:rPr>
              <a:t>E02, E06, E10–E13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453944-CE08-481D-A29B-02707306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4B8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00968-6AB9-41FB-8FFA-B4B2EAD4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B44"/>
                </a:solidFill>
                <a:latin typeface="Arial"/>
                <a:ea typeface="Arial"/>
                <a:cs typeface="Arial"/>
              </a:rPr>
              <a:t>Parser-д алдагдсан бүтэц downstream-д өөрөө сэргэхгүй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5D713-8429-4D55-AFEB-EC46ABAA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289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B44"/>
                </a:solidFill>
                <a:latin typeface="Arial"/>
                <a:ea typeface="Arial"/>
                <a:cs typeface="Arial"/>
              </a:rPr>
              <a:t>Version, embedding space, canonical source identity нь invariant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10704F-3CF6-4780-AC26-5073B35D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052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B44"/>
                </a:solidFill>
                <a:latin typeface="Arial"/>
                <a:ea typeface="Arial"/>
                <a:cs typeface="Arial"/>
              </a:rPr>
              <a:t>Profile нь BM25 scoring бус cache thrashing-ийг bottleneck гэж тогтоосон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001C71-C403-4DF9-8098-44788DD6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815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B44"/>
                </a:solidFill>
                <a:latin typeface="Arial"/>
                <a:ea typeface="Arial"/>
                <a:cs typeface="Arial"/>
              </a:rPr>
              <a:t>Citation ID, claim support, answer correctness-ийг тусад нь үнэлнэ</a:t>
            </a:r>
          </a:p>
        </p:txBody>
      </p:sp>
    </p:spTree>
    <p:extLst>
      <p:ext uri="{BB962C8B-B14F-4D97-AF65-F5344CB8AC3E}">
        <p14:creationId xmlns:p14="http://schemas.microsoft.com/office/powerpoint/2010/main" val="9699018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027380-56F5-48C1-B199-407A6F90EFC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810125" y="58007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4B85"/>
            </a:solidFill>
            <a:tailEnd type="triangle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FE96E4-61BC-42F6-B563-EFAECA7A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56577"/>
                </a:solidFill>
                <a:latin typeface="Arial"/>
                <a:ea typeface="Arial"/>
                <a:cs typeface="Arial"/>
              </a:rPr>
              <a:t>RAG СУДАЛГАА   /   CLEAN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82861-2B5B-4B0C-8614-D3009B3B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B44"/>
                </a:solidFill>
                <a:latin typeface="Arial"/>
                <a:ea typeface="Arial"/>
                <a:cs typeface="Arial"/>
              </a:rPr>
              <a:t>Clean RAG руу шилжүүлэх шийдвэр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E6C074-64DA-412B-9F94-C4F654C6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577"/>
                </a:solidFill>
                <a:latin typeface="Arial"/>
                <a:ea typeface="Arial"/>
                <a:cs typeface="Arial"/>
              </a:rPr>
              <a:t>Зөвлөмж   /   Шинэ төсөл хэрэгжсэн гэсэн мэдэгдэл биш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16E1D8-9009-4247-9A81-FB6ABE09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4B8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9DB28-70E4-477D-A272-6D1DE5F11BEA}"/>
              </a:ext>
            </a:extLst>
          </p:cNvPr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9728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3333750"/>
                <a:gridCol w="3924300"/>
              </a:tblGrid>
              <a:tr h="6762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Reuse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FE9"/>
                      </a:solidFill>
                      <a:prstDash val="solid"/>
                    </a:lnL>
                    <a:lnR w="9525">
                      <a:solidFill>
                        <a:srgbClr val="D4DFE9"/>
                      </a:solidFill>
                      <a:prstDash val="solid"/>
                    </a:lnR>
                    <a:lnT w="9525">
                      <a:solidFill>
                        <a:srgbClr val="D4DFE9"/>
                      </a:solidFill>
                      <a:prstDash val="solid"/>
                    </a:lnT>
                    <a:lnB w="9525">
                      <a:solidFill>
                        <a:srgbClr val="D4DFE9"/>
                      </a:solidFill>
                      <a:prstDash val="solid"/>
                    </a:lnB>
                    <a:solidFill>
                      <a:srgbClr val="164B8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Simplify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9"/>
                      </a:solidFill>
                      <a:prstDash val="solid"/>
                    </a:lnR>
                    <a:lnT w="9525">
                      <a:solidFill>
                        <a:srgbClr val="D4DFE9"/>
                      </a:solidFill>
                      <a:prstDash val="solid"/>
                    </a:lnT>
                    <a:lnB w="9525">
                      <a:solidFill>
                        <a:srgbClr val="D4DFE9"/>
                      </a:solidFill>
                      <a:prstDash val="solid"/>
                    </a:lnB>
                    <a:solidFill>
                      <a:srgbClr val="164B8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Improve / Defer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9"/>
                      </a:solidFill>
                      <a:prstDash val="solid"/>
                    </a:lnR>
                    <a:lnT w="9525">
                      <a:solidFill>
                        <a:srgbClr val="D4DFE9"/>
                      </a:solidFill>
                      <a:prstDash val="solid"/>
                    </a:lnT>
                    <a:lnB w="9525">
                      <a:solidFill>
                        <a:srgbClr val="D4DFE9"/>
                      </a:solidFill>
                      <a:prstDash val="solid"/>
                    </a:lnB>
                    <a:solidFill>
                      <a:srgbClr val="164B85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B44"/>
                          </a:solidFill>
                          <a:latin typeface="Arial"/>
                          <a:ea typeface="Arial"/>
                          <a:cs typeface="Arial"/>
                        </a:rPr>
                        <a:t>Version + manifest contract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FE9"/>
                      </a:solidFill>
                      <a:prstDash val="solid"/>
                    </a:lnL>
                    <a:lnR w="9525">
                      <a:solidFill>
                        <a:srgbClr val="D4DFE9"/>
                      </a:solidFill>
                      <a:prstDash val="solid"/>
                    </a:lnR>
                    <a:lnB w="9525">
                      <a:solidFill>
                        <a:srgbClr val="D4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B44"/>
                          </a:solidFill>
                          <a:latin typeface="Arial"/>
                          <a:ea typeface="Arial"/>
                          <a:cs typeface="Arial"/>
                        </a:rPr>
                        <a:t>Canonical config keys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9"/>
                      </a:solidFill>
                      <a:prstDash val="solid"/>
                    </a:lnR>
                    <a:lnB w="9525">
                      <a:solidFill>
                        <a:srgbClr val="D4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B44"/>
                          </a:solidFill>
                          <a:latin typeface="Arial"/>
                          <a:ea typeface="Arial"/>
                          <a:cs typeface="Arial"/>
                        </a:rPr>
                        <a:t>Improve parser structure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9"/>
                      </a:solidFill>
                      <a:prstDash val="solid"/>
                    </a:lnR>
                    <a:lnB w="9525">
                      <a:solidFill>
                        <a:srgbClr val="D4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B44"/>
                          </a:solidFill>
                          <a:latin typeface="Arial"/>
                          <a:ea typeface="Arial"/>
                          <a:cs typeface="Arial"/>
                        </a:rPr>
                        <a:t>Embedding fingerprint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FE9"/>
                      </a:solidFill>
                      <a:prstDash val="solid"/>
                    </a:lnL>
                    <a:lnR w="9525">
                      <a:solidFill>
                        <a:srgbClr val="D4DFE9"/>
                      </a:solidFill>
                      <a:prstDash val="solid"/>
                    </a:lnR>
                    <a:lnB w="9525">
                      <a:solidFill>
                        <a:srgbClr val="D4DFE9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B44"/>
                          </a:solidFill>
                          <a:latin typeface="Arial"/>
                          <a:ea typeface="Arial"/>
                          <a:cs typeface="Arial"/>
                        </a:rPr>
                        <a:t>Runtime ба benchmark зааг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9"/>
                      </a:solidFill>
                      <a:prstDash val="solid"/>
                    </a:lnR>
                    <a:lnB w="9525">
                      <a:solidFill>
                        <a:srgbClr val="D4DFE9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B44"/>
                          </a:solidFill>
                          <a:latin typeface="Arial"/>
                          <a:ea typeface="Arial"/>
                          <a:cs typeface="Arial"/>
                        </a:rPr>
                        <a:t>Improve inspector/debugger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9"/>
                      </a:solidFill>
                      <a:prstDash val="solid"/>
                    </a:lnR>
                    <a:lnB w="9525">
                      <a:solidFill>
                        <a:srgbClr val="D4DFE9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B44"/>
                          </a:solidFill>
                          <a:latin typeface="Arial"/>
                          <a:ea typeface="Arial"/>
                          <a:cs typeface="Arial"/>
                        </a:rPr>
                        <a:t>BM25 + Dense + RRF trace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FE9"/>
                      </a:solidFill>
                      <a:prstDash val="solid"/>
                    </a:lnL>
                    <a:lnR w="9525">
                      <a:solidFill>
                        <a:srgbClr val="D4DFE9"/>
                      </a:solidFill>
                      <a:prstDash val="solid"/>
                    </a:lnR>
                    <a:lnB w="9525">
                      <a:solidFill>
                        <a:srgbClr val="D4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B44"/>
                          </a:solidFill>
                          <a:latin typeface="Arial"/>
                          <a:ea typeface="Arial"/>
                          <a:cs typeface="Arial"/>
                        </a:rPr>
                        <a:t>Default-off optional hooks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9"/>
                      </a:solidFill>
                      <a:prstDash val="solid"/>
                    </a:lnR>
                    <a:lnB w="9525">
                      <a:solidFill>
                        <a:srgbClr val="D4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B44"/>
                          </a:solidFill>
                          <a:latin typeface="Arial"/>
                          <a:ea typeface="Arial"/>
                          <a:cs typeface="Arial"/>
                        </a:rPr>
                        <a:t>Improve authorization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9"/>
                      </a:solidFill>
                      <a:prstDash val="solid"/>
                    </a:lnR>
                    <a:lnB w="9525">
                      <a:solidFill>
                        <a:srgbClr val="D4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B44"/>
                          </a:solidFill>
                          <a:latin typeface="Arial"/>
                          <a:ea typeface="Arial"/>
                          <a:cs typeface="Arial"/>
                        </a:rPr>
                        <a:t>Context / citation guards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FE9"/>
                      </a:solidFill>
                      <a:prstDash val="solid"/>
                    </a:lnL>
                    <a:lnR w="9525">
                      <a:solidFill>
                        <a:srgbClr val="D4DFE9"/>
                      </a:solidFill>
                      <a:prstDash val="solid"/>
                    </a:lnR>
                    <a:lnB w="9525">
                      <a:solidFill>
                        <a:srgbClr val="D4DFE9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B44"/>
                          </a:solidFill>
                          <a:latin typeface="Arial"/>
                          <a:ea typeface="Arial"/>
                          <a:cs typeface="Arial"/>
                        </a:rPr>
                        <a:t>Жижиг service interfaces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9"/>
                      </a:solidFill>
                      <a:prstDash val="solid"/>
                    </a:lnR>
                    <a:lnB w="9525">
                      <a:solidFill>
                        <a:srgbClr val="D4DFE9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B44"/>
                          </a:solidFill>
                          <a:latin typeface="Arial"/>
                          <a:ea typeface="Arial"/>
                          <a:cs typeface="Arial"/>
                        </a:rPr>
                        <a:t>Defer reranking / semantic methods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FE9"/>
                      </a:solidFill>
                      <a:prstDash val="solid"/>
                    </a:lnR>
                    <a:lnB w="9525">
                      <a:solidFill>
                        <a:srgbClr val="D4DFE9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ED20D6-C167-4712-91E8-0BFE262B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4143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164B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52B44"/>
                </a:solidFill>
                <a:latin typeface="Arial"/>
                <a:ea typeface="Arial"/>
                <a:cs typeface="Arial"/>
              </a:rPr>
              <a:t>Одоо: prototype + experiments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4CFD9B-8C7E-4721-92CD-4941B615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476875"/>
            <a:ext cx="609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164B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52B44"/>
                </a:solidFill>
                <a:latin typeface="Arial"/>
                <a:ea typeface="Arial"/>
                <a:cs typeface="Arial"/>
              </a:rPr>
              <a:t>Clean RAG: ingestion / retrieval / generation / inspection</a:t>
            </a:r>
          </a:p>
        </p:txBody>
      </p:sp>
    </p:spTree>
    <p:extLst>
      <p:ext uri="{BB962C8B-B14F-4D97-AF65-F5344CB8AC3E}">
        <p14:creationId xmlns:p14="http://schemas.microsoft.com/office/powerpoint/2010/main" val="8610277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FCDB18-D659-404B-B93F-52FFA6EE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56577"/>
                </a:solidFill>
                <a:latin typeface="Arial"/>
                <a:ea typeface="Arial"/>
                <a:cs typeface="Arial"/>
              </a:rPr>
              <a:t>RAG СУДАЛГАА   /   CLEAN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BF36D-EE4E-4FE1-8419-8D71D865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B44"/>
                </a:solidFill>
                <a:latin typeface="Arial"/>
                <a:ea typeface="Arial"/>
                <a:cs typeface="Arial"/>
              </a:rPr>
              <a:t>Чанарын үнэлгээ ба production хязгаар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CD427A-5F89-433C-ACA8-526FCDFE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577"/>
                </a:solidFill>
                <a:latin typeface="Arial"/>
                <a:ea typeface="Arial"/>
                <a:cs typeface="Arial"/>
              </a:rPr>
              <a:t>E02, E08, E10, E12–E15   /   Production readiness NOT READY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BC75C-58B1-4E42-A21C-5FFC4FA2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4B8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48A30B-C7B3-4547-BBF6-CB13EB8A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B44"/>
                </a:solidFill>
                <a:latin typeface="Arial"/>
                <a:ea typeface="Arial"/>
                <a:cs typeface="Arial"/>
              </a:rPr>
              <a:t>2 independent verified асуулт нь relevance winner сонгоход хүрэлцэхгүй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106BA4-8304-40A8-957E-AC9362DB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289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B44"/>
                </a:solidFill>
                <a:latin typeface="Arial"/>
                <a:ea typeface="Arial"/>
                <a:cs typeface="Arial"/>
              </a:rPr>
              <a:t>Монгол answer correctness, faithfulness, completeness хэмжигдээгүй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BB762-AA3E-4165-85D2-D1587B0F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052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B44"/>
                </a:solidFill>
                <a:latin typeface="Arial"/>
                <a:ea typeface="Arial"/>
                <a:cs typeface="Arial"/>
              </a:rPr>
              <a:t>OCR / table / numbering, real API latency ба cost дутуу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78761D-878D-47A5-AC14-5D58E53E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815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B44"/>
                </a:solidFill>
                <a:latin typeface="Arial"/>
                <a:ea typeface="Arial"/>
                <a:cs typeface="Arial"/>
              </a:rPr>
              <a:t>Enterprise authorization болон concurrent production workload батлагдаагүй</a:t>
            </a:r>
          </a:p>
        </p:txBody>
      </p:sp>
    </p:spTree>
    <p:extLst>
      <p:ext uri="{BB962C8B-B14F-4D97-AF65-F5344CB8AC3E}">
        <p14:creationId xmlns:p14="http://schemas.microsoft.com/office/powerpoint/2010/main" val="17492492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F81C15-30C7-4D98-8CE5-A8703081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5565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56577"/>
                </a:solidFill>
                <a:latin typeface="Arial"/>
                <a:ea typeface="Arial"/>
                <a:cs typeface="Arial"/>
              </a:rPr>
              <a:t>RAG СУДАЛГАА   /   CLEAN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FA88A4-114A-4CF2-8833-7C03994E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B44"/>
                </a:solidFill>
                <a:latin typeface="Arial"/>
                <a:ea typeface="Arial"/>
                <a:cs typeface="Arial"/>
              </a:rPr>
              <a:t>Clean RAG хэрэгжүүлэх дараалал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210EB-0479-425F-8636-9050DDFD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65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577"/>
                </a:solidFill>
                <a:latin typeface="Arial"/>
                <a:ea typeface="Arial"/>
                <a:cs typeface="Arial"/>
              </a:rPr>
              <a:t>E06, E10–E14   /   Хүлээн авах шалгуурыг тусад нь хадгална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3FBF3-39A8-45FA-8BD4-2999B8AD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34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4B8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C9E70-CF4F-409A-AE97-0636C88D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B44"/>
                </a:solidFill>
                <a:latin typeface="Arial"/>
                <a:ea typeface="Arial"/>
                <a:cs typeface="Arial"/>
              </a:rPr>
              <a:t>1   Contract ба service boundary; ingestion / version recovery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C64328-8CA7-4071-AB0C-F38503A1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76525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B44"/>
                </a:solidFill>
                <a:latin typeface="Arial"/>
                <a:ea typeface="Arial"/>
                <a:cs typeface="Arial"/>
              </a:rPr>
              <a:t>2   A0 baseline, compatible embedding, BM25 + Dense + RRF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16AFB5-1FF7-4517-BD3E-D0C9C5DF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B44"/>
                </a:solidFill>
                <a:latin typeface="Arial"/>
                <a:ea typeface="Arial"/>
                <a:cs typeface="Arial"/>
              </a:rPr>
              <a:t>3   Context, citation, safe fallback; inspector ба retrieval debugger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546CDF-70AC-479C-8661-A06CA308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14825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52B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B44"/>
                </a:solidFill>
                <a:latin typeface="Arial"/>
                <a:ea typeface="Arial"/>
                <a:cs typeface="Arial"/>
              </a:rPr>
              <a:t>4   Authorization ба reviewed company-policy quality acceptance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DEB484-B7F8-4D30-BCD1-AF222C61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959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4B8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4B85"/>
                </a:solidFill>
                <a:latin typeface="Arial"/>
                <a:ea typeface="Arial"/>
                <a:cs typeface="Arial"/>
              </a:rPr>
              <a:t>Advanced feature-ийн сонголт нь бодит reviewed failure-оос эхэлнэ</a:t>
            </a:r>
          </a:p>
        </p:txBody>
      </p:sp>
    </p:spTree>
    <p:extLst>
      <p:ext uri="{BB962C8B-B14F-4D97-AF65-F5344CB8AC3E}">
        <p14:creationId xmlns:p14="http://schemas.microsoft.com/office/powerpoint/2010/main" val="5571699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2026-10-22T04:24:16.8330000Z</dcterms:created>
  <dcterms:modified xsi:type="dcterms:W3CDTF">2026-10-22T04:24:16.8330000Z</dcterms:modified>
</coreProperties>
</file>